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8" r:id="rId2"/>
    <p:sldId id="259" r:id="rId3"/>
    <p:sldId id="260" r:id="rId4"/>
    <p:sldId id="261" r:id="rId5"/>
    <p:sldId id="262" r:id="rId6"/>
    <p:sldId id="269" r:id="rId7"/>
    <p:sldId id="263" r:id="rId8"/>
    <p:sldId id="270" r:id="rId9"/>
    <p:sldId id="265" r:id="rId10"/>
    <p:sldId id="271"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291" y="3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94"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48695"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B070A-E513-401D-88A0-1905E215AC6D}" type="datetimeFigureOut">
              <a:rPr lang="en-IN" smtClean="0"/>
              <a:t>26-09-2025</a:t>
            </a:fld>
            <a:endParaRPr lang="en-IN"/>
          </a:p>
        </p:txBody>
      </p:sp>
      <p:sp>
        <p:nvSpPr>
          <p:cNvPr id="1048696"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1048697"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8"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1048699"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094D3C-21C6-49B4-9BD9-C9FD555A54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048594" name="Google Shape;126;g26434cc772b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595" name="Google Shape;127;g26434cc772b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048598" name="Google Shape;141;g26434cc772b_0_1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599" name="Google Shape;142;g26434cc772b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048602" name="Google Shape;141;g26434cc772b_0_1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48603" name="Google Shape;142;g26434cc772b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048606" name="Google Shape;141;g26434cc772b_0_1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07" name="Google Shape;142;g26434cc772b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048610" name="Google Shape;141;g26434cc772b_0_1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11" name="Google Shape;142;g26434cc772b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019880A-5C8A-3659-677C-6098630C59C3}"/>
            </a:ext>
          </a:extLst>
        </p:cNvPr>
        <p:cNvGrpSpPr/>
        <p:nvPr/>
      </p:nvGrpSpPr>
      <p:grpSpPr>
        <a:xfrm>
          <a:off x="0" y="0"/>
          <a:ext cx="0" cy="0"/>
          <a:chOff x="0" y="0"/>
          <a:chExt cx="0" cy="0"/>
        </a:xfrm>
      </p:grpSpPr>
      <p:sp>
        <p:nvSpPr>
          <p:cNvPr id="1048614" name="Google Shape;141;g26434cc772b_0_184:notes">
            <a:extLst>
              <a:ext uri="{FF2B5EF4-FFF2-40B4-BE49-F238E27FC236}">
                <a16:creationId xmlns:a16="http://schemas.microsoft.com/office/drawing/2014/main" id="{0160167D-D330-AA38-1640-2769609DF3C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15" name="Google Shape;142;g26434cc772b_0_184:notes">
            <a:extLst>
              <a:ext uri="{FF2B5EF4-FFF2-40B4-BE49-F238E27FC236}">
                <a16:creationId xmlns:a16="http://schemas.microsoft.com/office/drawing/2014/main" id="{DD13AB6F-3069-A8DF-B304-846D96DCFB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8654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048614" name="Google Shape;141;g26434cc772b_0_1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15" name="Google Shape;142;g26434cc772b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6C57581C-9863-6506-C376-5209CB5CA711}"/>
            </a:ext>
          </a:extLst>
        </p:cNvPr>
        <p:cNvGrpSpPr/>
        <p:nvPr/>
      </p:nvGrpSpPr>
      <p:grpSpPr>
        <a:xfrm>
          <a:off x="0" y="0"/>
          <a:ext cx="0" cy="0"/>
          <a:chOff x="0" y="0"/>
          <a:chExt cx="0" cy="0"/>
        </a:xfrm>
      </p:grpSpPr>
      <p:sp>
        <p:nvSpPr>
          <p:cNvPr id="1048614" name="Google Shape;141;g26434cc772b_0_184:notes">
            <a:extLst>
              <a:ext uri="{FF2B5EF4-FFF2-40B4-BE49-F238E27FC236}">
                <a16:creationId xmlns:a16="http://schemas.microsoft.com/office/drawing/2014/main" id="{3FF2344F-596C-7998-C9D2-A05E0D3A47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15" name="Google Shape;142;g26434cc772b_0_184:notes">
            <a:extLst>
              <a:ext uri="{FF2B5EF4-FFF2-40B4-BE49-F238E27FC236}">
                <a16:creationId xmlns:a16="http://schemas.microsoft.com/office/drawing/2014/main" id="{FD2B26EA-21FF-D4A4-9C92-E1DC3D5CCB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3469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048622" name="Google Shape;141;g26434cc772b_0_1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23" name="Google Shape;142;g26434cc772b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62D2BC7E-57A6-FE86-60CF-C2BC2CF74E44}"/>
            </a:ext>
          </a:extLst>
        </p:cNvPr>
        <p:cNvGrpSpPr/>
        <p:nvPr/>
      </p:nvGrpSpPr>
      <p:grpSpPr>
        <a:xfrm>
          <a:off x="0" y="0"/>
          <a:ext cx="0" cy="0"/>
          <a:chOff x="0" y="0"/>
          <a:chExt cx="0" cy="0"/>
        </a:xfrm>
      </p:grpSpPr>
      <p:sp>
        <p:nvSpPr>
          <p:cNvPr id="1048622" name="Google Shape;141;g26434cc772b_0_184:notes">
            <a:extLst>
              <a:ext uri="{FF2B5EF4-FFF2-40B4-BE49-F238E27FC236}">
                <a16:creationId xmlns:a16="http://schemas.microsoft.com/office/drawing/2014/main" id="{ED691BAC-7B36-D2FC-E63E-56AA50E2F0A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23" name="Google Shape;142;g26434cc772b_0_184:notes">
            <a:extLst>
              <a:ext uri="{FF2B5EF4-FFF2-40B4-BE49-F238E27FC236}">
                <a16:creationId xmlns:a16="http://schemas.microsoft.com/office/drawing/2014/main" id="{2657E9C8-F4C2-209D-BFF8-05D879530C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4943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1048639" name="Google Shape;401;g2a8894c6850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640" name="Google Shape;402;g2a8894c6850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4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64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643" name="Date Placeholder 3"/>
          <p:cNvSpPr>
            <a:spLocks noGrp="1"/>
          </p:cNvSpPr>
          <p:nvPr>
            <p:ph type="dt" sz="half" idx="10"/>
          </p:nvPr>
        </p:nvSpPr>
        <p:spPr/>
        <p:txBody>
          <a:bodyPr/>
          <a:lstStyle/>
          <a:p>
            <a:fld id="{E6BF323B-3574-465A-8973-EA4D5E52AC82}" type="datetimeFigureOut">
              <a:rPr lang="en-IN" smtClean="0"/>
              <a:t>26-09-2025</a:t>
            </a:fld>
            <a:endParaRPr lang="en-IN"/>
          </a:p>
        </p:txBody>
      </p:sp>
      <p:sp>
        <p:nvSpPr>
          <p:cNvPr id="1048644" name="Footer Placeholder 4"/>
          <p:cNvSpPr>
            <a:spLocks noGrp="1"/>
          </p:cNvSpPr>
          <p:nvPr>
            <p:ph type="ftr" sz="quarter" idx="11"/>
          </p:nvPr>
        </p:nvSpPr>
        <p:spPr/>
        <p:txBody>
          <a:bodyPr/>
          <a:lstStyle/>
          <a:p>
            <a:endParaRPr lang="en-IN"/>
          </a:p>
        </p:txBody>
      </p:sp>
      <p:sp>
        <p:nvSpPr>
          <p:cNvPr id="1048645" name="Slide Number Placeholder 5"/>
          <p:cNvSpPr>
            <a:spLocks noGrp="1"/>
          </p:cNvSpPr>
          <p:nvPr>
            <p:ph type="sldNum" sz="quarter" idx="12"/>
          </p:nvPr>
        </p:nvSpPr>
        <p:spPr/>
        <p:txBody>
          <a:bodyPr/>
          <a:lstStyle/>
          <a:p>
            <a:fld id="{6D2F93E1-1E33-4FC7-9424-5335E9549BF2}"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IN"/>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83" name="Date Placeholder 3"/>
          <p:cNvSpPr>
            <a:spLocks noGrp="1"/>
          </p:cNvSpPr>
          <p:nvPr>
            <p:ph type="dt" sz="half" idx="10"/>
          </p:nvPr>
        </p:nvSpPr>
        <p:spPr/>
        <p:txBody>
          <a:bodyPr/>
          <a:lstStyle/>
          <a:p>
            <a:fld id="{E6BF323B-3574-465A-8973-EA4D5E52AC82}" type="datetimeFigureOut">
              <a:rPr lang="en-IN" smtClean="0"/>
              <a:t>26-09-2025</a:t>
            </a:fld>
            <a:endParaRPr lang="en-IN"/>
          </a:p>
        </p:txBody>
      </p:sp>
      <p:sp>
        <p:nvSpPr>
          <p:cNvPr id="1048584" name="Footer Placeholder 4"/>
          <p:cNvSpPr>
            <a:spLocks noGrp="1"/>
          </p:cNvSpPr>
          <p:nvPr>
            <p:ph type="ftr" sz="quarter" idx="11"/>
          </p:nvPr>
        </p:nvSpPr>
        <p:spPr/>
        <p:txBody>
          <a:bodyPr/>
          <a:lstStyle/>
          <a:p>
            <a:endParaRPr lang="en-IN"/>
          </a:p>
        </p:txBody>
      </p:sp>
      <p:sp>
        <p:nvSpPr>
          <p:cNvPr id="1048585" name="Slide Number Placeholder 5"/>
          <p:cNvSpPr>
            <a:spLocks noGrp="1"/>
          </p:cNvSpPr>
          <p:nvPr>
            <p:ph type="sldNum" sz="quarter" idx="12"/>
          </p:nvPr>
        </p:nvSpPr>
        <p:spPr/>
        <p:txBody>
          <a:bodyPr/>
          <a:lstStyle/>
          <a:p>
            <a:fld id="{6D2F93E1-1E33-4FC7-9424-5335E9549BF2}"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66"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67"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68" name="Date Placeholder 3"/>
          <p:cNvSpPr>
            <a:spLocks noGrp="1"/>
          </p:cNvSpPr>
          <p:nvPr>
            <p:ph type="dt" sz="half" idx="10"/>
          </p:nvPr>
        </p:nvSpPr>
        <p:spPr/>
        <p:txBody>
          <a:bodyPr/>
          <a:lstStyle/>
          <a:p>
            <a:fld id="{E6BF323B-3574-465A-8973-EA4D5E52AC82}" type="datetimeFigureOut">
              <a:rPr lang="en-IN" smtClean="0"/>
              <a:t>26-09-2025</a:t>
            </a:fld>
            <a:endParaRPr lang="en-IN"/>
          </a:p>
        </p:txBody>
      </p:sp>
      <p:sp>
        <p:nvSpPr>
          <p:cNvPr id="1048669" name="Footer Placeholder 4"/>
          <p:cNvSpPr>
            <a:spLocks noGrp="1"/>
          </p:cNvSpPr>
          <p:nvPr>
            <p:ph type="ftr" sz="quarter" idx="11"/>
          </p:nvPr>
        </p:nvSpPr>
        <p:spPr/>
        <p:txBody>
          <a:bodyPr/>
          <a:lstStyle/>
          <a:p>
            <a:endParaRPr lang="en-IN"/>
          </a:p>
        </p:txBody>
      </p:sp>
      <p:sp>
        <p:nvSpPr>
          <p:cNvPr id="1048670" name="Slide Number Placeholder 5"/>
          <p:cNvSpPr>
            <a:spLocks noGrp="1"/>
          </p:cNvSpPr>
          <p:nvPr>
            <p:ph type="sldNum" sz="quarter" idx="12"/>
          </p:nvPr>
        </p:nvSpPr>
        <p:spPr/>
        <p:txBody>
          <a:bodyPr/>
          <a:lstStyle/>
          <a:p>
            <a:fld id="{6D2F93E1-1E33-4FC7-9424-5335E9549BF2}"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71" name="Title 1"/>
          <p:cNvSpPr>
            <a:spLocks noGrp="1"/>
          </p:cNvSpPr>
          <p:nvPr>
            <p:ph type="title"/>
          </p:nvPr>
        </p:nvSpPr>
        <p:spPr/>
        <p:txBody>
          <a:bodyPr/>
          <a:lstStyle/>
          <a:p>
            <a:r>
              <a:rPr lang="en-US"/>
              <a:t>Click to edit Master title style</a:t>
            </a:r>
            <a:endParaRPr lang="en-IN"/>
          </a:p>
        </p:txBody>
      </p:sp>
      <p:sp>
        <p:nvSpPr>
          <p:cNvPr id="1048672"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73"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74" name="Date Placeholder 4"/>
          <p:cNvSpPr>
            <a:spLocks noGrp="1"/>
          </p:cNvSpPr>
          <p:nvPr>
            <p:ph type="dt" sz="half" idx="10"/>
          </p:nvPr>
        </p:nvSpPr>
        <p:spPr/>
        <p:txBody>
          <a:bodyPr/>
          <a:lstStyle/>
          <a:p>
            <a:fld id="{E6BF323B-3574-465A-8973-EA4D5E52AC82}" type="datetimeFigureOut">
              <a:rPr lang="en-IN" smtClean="0"/>
              <a:t>26-09-2025</a:t>
            </a:fld>
            <a:endParaRPr lang="en-IN"/>
          </a:p>
        </p:txBody>
      </p:sp>
      <p:sp>
        <p:nvSpPr>
          <p:cNvPr id="1048675" name="Footer Placeholder 5"/>
          <p:cNvSpPr>
            <a:spLocks noGrp="1"/>
          </p:cNvSpPr>
          <p:nvPr>
            <p:ph type="ftr" sz="quarter" idx="11"/>
          </p:nvPr>
        </p:nvSpPr>
        <p:spPr/>
        <p:txBody>
          <a:bodyPr/>
          <a:lstStyle/>
          <a:p>
            <a:endParaRPr lang="en-IN"/>
          </a:p>
        </p:txBody>
      </p:sp>
      <p:sp>
        <p:nvSpPr>
          <p:cNvPr id="1048676" name="Slide Number Placeholder 6"/>
          <p:cNvSpPr>
            <a:spLocks noGrp="1"/>
          </p:cNvSpPr>
          <p:nvPr>
            <p:ph type="sldNum" sz="quarter" idx="12"/>
          </p:nvPr>
        </p:nvSpPr>
        <p:spPr/>
        <p:txBody>
          <a:bodyPr/>
          <a:lstStyle/>
          <a:p>
            <a:fld id="{6D2F93E1-1E33-4FC7-9424-5335E9549BF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77"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78"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79"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0"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81"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2" name="Date Placeholder 6"/>
          <p:cNvSpPr>
            <a:spLocks noGrp="1"/>
          </p:cNvSpPr>
          <p:nvPr>
            <p:ph type="dt" sz="half" idx="10"/>
          </p:nvPr>
        </p:nvSpPr>
        <p:spPr/>
        <p:txBody>
          <a:bodyPr/>
          <a:lstStyle/>
          <a:p>
            <a:fld id="{E6BF323B-3574-465A-8973-EA4D5E52AC82}" type="datetimeFigureOut">
              <a:rPr lang="en-IN" smtClean="0"/>
              <a:t>26-09-2025</a:t>
            </a:fld>
            <a:endParaRPr lang="en-IN"/>
          </a:p>
        </p:txBody>
      </p:sp>
      <p:sp>
        <p:nvSpPr>
          <p:cNvPr id="1048683" name="Footer Placeholder 7"/>
          <p:cNvSpPr>
            <a:spLocks noGrp="1"/>
          </p:cNvSpPr>
          <p:nvPr>
            <p:ph type="ftr" sz="quarter" idx="11"/>
          </p:nvPr>
        </p:nvSpPr>
        <p:spPr/>
        <p:txBody>
          <a:bodyPr/>
          <a:lstStyle/>
          <a:p>
            <a:endParaRPr lang="en-IN"/>
          </a:p>
        </p:txBody>
      </p:sp>
      <p:sp>
        <p:nvSpPr>
          <p:cNvPr id="1048684" name="Slide Number Placeholder 8"/>
          <p:cNvSpPr>
            <a:spLocks noGrp="1"/>
          </p:cNvSpPr>
          <p:nvPr>
            <p:ph type="sldNum" sz="quarter" idx="12"/>
          </p:nvPr>
        </p:nvSpPr>
        <p:spPr/>
        <p:txBody>
          <a:bodyPr/>
          <a:lstStyle/>
          <a:p>
            <a:fld id="{6D2F93E1-1E33-4FC7-9424-5335E9549BF2}"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46" name="Title 1"/>
          <p:cNvSpPr>
            <a:spLocks noGrp="1"/>
          </p:cNvSpPr>
          <p:nvPr>
            <p:ph type="title"/>
          </p:nvPr>
        </p:nvSpPr>
        <p:spPr/>
        <p:txBody>
          <a:bodyPr/>
          <a:lstStyle/>
          <a:p>
            <a:r>
              <a:rPr lang="en-US"/>
              <a:t>Click to edit Master title style</a:t>
            </a:r>
            <a:endParaRPr lang="en-IN"/>
          </a:p>
        </p:txBody>
      </p:sp>
      <p:sp>
        <p:nvSpPr>
          <p:cNvPr id="1048647" name="Date Placeholder 2"/>
          <p:cNvSpPr>
            <a:spLocks noGrp="1"/>
          </p:cNvSpPr>
          <p:nvPr>
            <p:ph type="dt" sz="half" idx="10"/>
          </p:nvPr>
        </p:nvSpPr>
        <p:spPr/>
        <p:txBody>
          <a:bodyPr/>
          <a:lstStyle/>
          <a:p>
            <a:fld id="{E6BF323B-3574-465A-8973-EA4D5E52AC82}" type="datetimeFigureOut">
              <a:rPr lang="en-IN" smtClean="0"/>
              <a:t>26-09-2025</a:t>
            </a:fld>
            <a:endParaRPr lang="en-IN"/>
          </a:p>
        </p:txBody>
      </p:sp>
      <p:sp>
        <p:nvSpPr>
          <p:cNvPr id="1048648" name="Footer Placeholder 3"/>
          <p:cNvSpPr>
            <a:spLocks noGrp="1"/>
          </p:cNvSpPr>
          <p:nvPr>
            <p:ph type="ftr" sz="quarter" idx="11"/>
          </p:nvPr>
        </p:nvSpPr>
        <p:spPr/>
        <p:txBody>
          <a:bodyPr/>
          <a:lstStyle/>
          <a:p>
            <a:endParaRPr lang="en-IN"/>
          </a:p>
        </p:txBody>
      </p:sp>
      <p:sp>
        <p:nvSpPr>
          <p:cNvPr id="1048649" name="Slide Number Placeholder 4"/>
          <p:cNvSpPr>
            <a:spLocks noGrp="1"/>
          </p:cNvSpPr>
          <p:nvPr>
            <p:ph type="sldNum" sz="quarter" idx="12"/>
          </p:nvPr>
        </p:nvSpPr>
        <p:spPr/>
        <p:txBody>
          <a:bodyPr/>
          <a:lstStyle/>
          <a:p>
            <a:fld id="{6D2F93E1-1E33-4FC7-9424-5335E9549BF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85" name="Date Placeholder 1"/>
          <p:cNvSpPr>
            <a:spLocks noGrp="1"/>
          </p:cNvSpPr>
          <p:nvPr>
            <p:ph type="dt" sz="half" idx="10"/>
          </p:nvPr>
        </p:nvSpPr>
        <p:spPr/>
        <p:txBody>
          <a:bodyPr/>
          <a:lstStyle/>
          <a:p>
            <a:fld id="{E6BF323B-3574-465A-8973-EA4D5E52AC82}" type="datetimeFigureOut">
              <a:rPr lang="en-IN" smtClean="0"/>
              <a:t>26-09-2025</a:t>
            </a:fld>
            <a:endParaRPr lang="en-IN"/>
          </a:p>
        </p:txBody>
      </p:sp>
      <p:sp>
        <p:nvSpPr>
          <p:cNvPr id="1048686" name="Footer Placeholder 2"/>
          <p:cNvSpPr>
            <a:spLocks noGrp="1"/>
          </p:cNvSpPr>
          <p:nvPr>
            <p:ph type="ftr" sz="quarter" idx="11"/>
          </p:nvPr>
        </p:nvSpPr>
        <p:spPr/>
        <p:txBody>
          <a:bodyPr/>
          <a:lstStyle/>
          <a:p>
            <a:endParaRPr lang="en-IN"/>
          </a:p>
        </p:txBody>
      </p:sp>
      <p:sp>
        <p:nvSpPr>
          <p:cNvPr id="1048687" name="Slide Number Placeholder 3"/>
          <p:cNvSpPr>
            <a:spLocks noGrp="1"/>
          </p:cNvSpPr>
          <p:nvPr>
            <p:ph type="sldNum" sz="quarter" idx="12"/>
          </p:nvPr>
        </p:nvSpPr>
        <p:spPr/>
        <p:txBody>
          <a:bodyPr/>
          <a:lstStyle/>
          <a:p>
            <a:fld id="{6D2F93E1-1E33-4FC7-9424-5335E9549BF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88"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89"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0"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91" name="Date Placeholder 4"/>
          <p:cNvSpPr>
            <a:spLocks noGrp="1"/>
          </p:cNvSpPr>
          <p:nvPr>
            <p:ph type="dt" sz="half" idx="10"/>
          </p:nvPr>
        </p:nvSpPr>
        <p:spPr/>
        <p:txBody>
          <a:bodyPr/>
          <a:lstStyle/>
          <a:p>
            <a:fld id="{E6BF323B-3574-465A-8973-EA4D5E52AC82}" type="datetimeFigureOut">
              <a:rPr lang="en-IN" smtClean="0"/>
              <a:t>26-09-2025</a:t>
            </a:fld>
            <a:endParaRPr lang="en-IN"/>
          </a:p>
        </p:txBody>
      </p:sp>
      <p:sp>
        <p:nvSpPr>
          <p:cNvPr id="1048692" name="Footer Placeholder 5"/>
          <p:cNvSpPr>
            <a:spLocks noGrp="1"/>
          </p:cNvSpPr>
          <p:nvPr>
            <p:ph type="ftr" sz="quarter" idx="11"/>
          </p:nvPr>
        </p:nvSpPr>
        <p:spPr/>
        <p:txBody>
          <a:bodyPr/>
          <a:lstStyle/>
          <a:p>
            <a:endParaRPr lang="en-IN"/>
          </a:p>
        </p:txBody>
      </p:sp>
      <p:sp>
        <p:nvSpPr>
          <p:cNvPr id="1048693" name="Slide Number Placeholder 6"/>
          <p:cNvSpPr>
            <a:spLocks noGrp="1"/>
          </p:cNvSpPr>
          <p:nvPr>
            <p:ph type="sldNum" sz="quarter" idx="12"/>
          </p:nvPr>
        </p:nvSpPr>
        <p:spPr/>
        <p:txBody>
          <a:bodyPr/>
          <a:lstStyle/>
          <a:p>
            <a:fld id="{6D2F93E1-1E33-4FC7-9424-5335E9549BF2}"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55"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56"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657"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8" name="Date Placeholder 4"/>
          <p:cNvSpPr>
            <a:spLocks noGrp="1"/>
          </p:cNvSpPr>
          <p:nvPr>
            <p:ph type="dt" sz="half" idx="10"/>
          </p:nvPr>
        </p:nvSpPr>
        <p:spPr/>
        <p:txBody>
          <a:bodyPr/>
          <a:lstStyle/>
          <a:p>
            <a:fld id="{E6BF323B-3574-465A-8973-EA4D5E52AC82}" type="datetimeFigureOut">
              <a:rPr lang="en-IN" smtClean="0"/>
              <a:t>26-09-2025</a:t>
            </a:fld>
            <a:endParaRPr lang="en-IN"/>
          </a:p>
        </p:txBody>
      </p:sp>
      <p:sp>
        <p:nvSpPr>
          <p:cNvPr id="1048659" name="Footer Placeholder 5"/>
          <p:cNvSpPr>
            <a:spLocks noGrp="1"/>
          </p:cNvSpPr>
          <p:nvPr>
            <p:ph type="ftr" sz="quarter" idx="11"/>
          </p:nvPr>
        </p:nvSpPr>
        <p:spPr/>
        <p:txBody>
          <a:bodyPr/>
          <a:lstStyle/>
          <a:p>
            <a:endParaRPr lang="en-IN"/>
          </a:p>
        </p:txBody>
      </p:sp>
      <p:sp>
        <p:nvSpPr>
          <p:cNvPr id="1048660" name="Slide Number Placeholder 6"/>
          <p:cNvSpPr>
            <a:spLocks noGrp="1"/>
          </p:cNvSpPr>
          <p:nvPr>
            <p:ph type="sldNum" sz="quarter" idx="12"/>
          </p:nvPr>
        </p:nvSpPr>
        <p:spPr/>
        <p:txBody>
          <a:bodyPr/>
          <a:lstStyle/>
          <a:p>
            <a:fld id="{6D2F93E1-1E33-4FC7-9424-5335E9549BF2}"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61" name="Title 1"/>
          <p:cNvSpPr>
            <a:spLocks noGrp="1"/>
          </p:cNvSpPr>
          <p:nvPr>
            <p:ph type="title"/>
          </p:nvPr>
        </p:nvSpPr>
        <p:spPr/>
        <p:txBody>
          <a:bodyPr/>
          <a:lstStyle/>
          <a:p>
            <a:r>
              <a:rPr lang="en-US"/>
              <a:t>Click to edit Master title style</a:t>
            </a:r>
            <a:endParaRPr lang="en-IN"/>
          </a:p>
        </p:txBody>
      </p:sp>
      <p:sp>
        <p:nvSpPr>
          <p:cNvPr id="104866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63" name="Date Placeholder 3"/>
          <p:cNvSpPr>
            <a:spLocks noGrp="1"/>
          </p:cNvSpPr>
          <p:nvPr>
            <p:ph type="dt" sz="half" idx="10"/>
          </p:nvPr>
        </p:nvSpPr>
        <p:spPr/>
        <p:txBody>
          <a:bodyPr/>
          <a:lstStyle/>
          <a:p>
            <a:fld id="{E6BF323B-3574-465A-8973-EA4D5E52AC82}" type="datetimeFigureOut">
              <a:rPr lang="en-IN" smtClean="0"/>
              <a:t>26-09-2025</a:t>
            </a:fld>
            <a:endParaRPr lang="en-IN"/>
          </a:p>
        </p:txBody>
      </p:sp>
      <p:sp>
        <p:nvSpPr>
          <p:cNvPr id="1048664" name="Footer Placeholder 4"/>
          <p:cNvSpPr>
            <a:spLocks noGrp="1"/>
          </p:cNvSpPr>
          <p:nvPr>
            <p:ph type="ftr" sz="quarter" idx="11"/>
          </p:nvPr>
        </p:nvSpPr>
        <p:spPr/>
        <p:txBody>
          <a:bodyPr/>
          <a:lstStyle/>
          <a:p>
            <a:endParaRPr lang="en-IN"/>
          </a:p>
        </p:txBody>
      </p:sp>
      <p:sp>
        <p:nvSpPr>
          <p:cNvPr id="1048665" name="Slide Number Placeholder 5"/>
          <p:cNvSpPr>
            <a:spLocks noGrp="1"/>
          </p:cNvSpPr>
          <p:nvPr>
            <p:ph type="sldNum" sz="quarter" idx="12"/>
          </p:nvPr>
        </p:nvSpPr>
        <p:spPr/>
        <p:txBody>
          <a:bodyPr/>
          <a:lstStyle/>
          <a:p>
            <a:fld id="{6D2F93E1-1E33-4FC7-9424-5335E9549BF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50"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51"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2" name="Date Placeholder 3"/>
          <p:cNvSpPr>
            <a:spLocks noGrp="1"/>
          </p:cNvSpPr>
          <p:nvPr>
            <p:ph type="dt" sz="half" idx="10"/>
          </p:nvPr>
        </p:nvSpPr>
        <p:spPr/>
        <p:txBody>
          <a:bodyPr/>
          <a:lstStyle/>
          <a:p>
            <a:fld id="{E6BF323B-3574-465A-8973-EA4D5E52AC82}" type="datetimeFigureOut">
              <a:rPr lang="en-IN" smtClean="0"/>
              <a:t>26-09-2025</a:t>
            </a:fld>
            <a:endParaRPr lang="en-IN"/>
          </a:p>
        </p:txBody>
      </p:sp>
      <p:sp>
        <p:nvSpPr>
          <p:cNvPr id="1048653" name="Footer Placeholder 4"/>
          <p:cNvSpPr>
            <a:spLocks noGrp="1"/>
          </p:cNvSpPr>
          <p:nvPr>
            <p:ph type="ftr" sz="quarter" idx="11"/>
          </p:nvPr>
        </p:nvSpPr>
        <p:spPr/>
        <p:txBody>
          <a:bodyPr/>
          <a:lstStyle/>
          <a:p>
            <a:endParaRPr lang="en-IN"/>
          </a:p>
        </p:txBody>
      </p:sp>
      <p:sp>
        <p:nvSpPr>
          <p:cNvPr id="1048654" name="Slide Number Placeholder 5"/>
          <p:cNvSpPr>
            <a:spLocks noGrp="1"/>
          </p:cNvSpPr>
          <p:nvPr>
            <p:ph type="sldNum" sz="quarter" idx="12"/>
          </p:nvPr>
        </p:nvSpPr>
        <p:spPr/>
        <p:txBody>
          <a:bodyPr/>
          <a:lstStyle/>
          <a:p>
            <a:fld id="{6D2F93E1-1E33-4FC7-9424-5335E9549BF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BF323B-3574-465A-8973-EA4D5E52AC82}" type="datetimeFigureOut">
              <a:rPr lang="en-IN" smtClean="0"/>
              <a:t>26-09-2025</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F93E1-1E33-4FC7-9424-5335E9549BF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emf"/><Relationship Id="rId4" Type="http://schemas.openxmlformats.org/officeDocument/2006/relationships/package" Target="../embeddings/Microsoft_Excel_Worksheet.xlsx"/></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cxnSp>
        <p:nvCxnSpPr>
          <p:cNvPr id="3145728" name="Google Shape;129;p25"/>
          <p:cNvCxnSpPr>
            <a:cxnSpLocks/>
          </p:cNvCxnSpPr>
          <p:nvPr/>
        </p:nvCxnSpPr>
        <p:spPr>
          <a:xfrm>
            <a:off x="4247953" y="2839537"/>
            <a:ext cx="6583600" cy="0"/>
          </a:xfrm>
          <a:prstGeom prst="straightConnector1">
            <a:avLst/>
          </a:prstGeom>
          <a:noFill/>
          <a:ln w="38100" cap="flat" cmpd="sng">
            <a:solidFill>
              <a:srgbClr val="DFA267"/>
            </a:solidFill>
            <a:prstDash val="solid"/>
            <a:miter lim="800000"/>
            <a:headEnd type="none" w="sm" len="sm"/>
            <a:tailEnd type="none" w="sm" len="sm"/>
          </a:ln>
        </p:spPr>
      </p:cxnSp>
      <p:sp>
        <p:nvSpPr>
          <p:cNvPr id="1048587" name="Google Shape;130;p25"/>
          <p:cNvSpPr/>
          <p:nvPr/>
        </p:nvSpPr>
        <p:spPr>
          <a:xfrm>
            <a:off x="4247953" y="3640520"/>
            <a:ext cx="6064800" cy="889600"/>
          </a:xfrm>
          <a:prstGeom prst="rect">
            <a:avLst/>
          </a:prstGeom>
          <a:noFill/>
          <a:ln>
            <a:noFill/>
          </a:ln>
        </p:spPr>
        <p:txBody>
          <a:bodyPr spcFirstLastPara="1" wrap="square" lIns="91433" tIns="45700" rIns="91433" bIns="45700" anchor="t" anchorCtr="0">
            <a:noAutofit/>
          </a:bodyPr>
          <a:lstStyle/>
          <a:p>
            <a:pPr>
              <a:buClr>
                <a:srgbClr val="000000"/>
              </a:buClr>
              <a:buSzPts val="1800"/>
            </a:pPr>
            <a:r>
              <a:rPr lang="en" sz="2400" b="1" dirty="0">
                <a:ea typeface="Calibri"/>
                <a:cs typeface="Calibri"/>
                <a:sym typeface="Calibri"/>
              </a:rPr>
              <a:t>Name: Madure Shravani Kiran</a:t>
            </a:r>
            <a:endParaRPr sz="2400" b="1" dirty="0">
              <a:ea typeface="Arial"/>
              <a:cs typeface="Arial"/>
              <a:sym typeface="Arial"/>
            </a:endParaRPr>
          </a:p>
          <a:p>
            <a:pPr>
              <a:buClr>
                <a:srgbClr val="000000"/>
              </a:buClr>
              <a:buSzPts val="1800"/>
            </a:pPr>
            <a:r>
              <a:rPr lang="en" sz="2400" b="1" dirty="0">
                <a:ea typeface="Calibri"/>
                <a:cs typeface="Calibri"/>
                <a:sym typeface="Calibri"/>
              </a:rPr>
              <a:t>SRN: PES1PG24CA085</a:t>
            </a:r>
            <a:endParaRPr sz="2400" b="1" dirty="0">
              <a:ea typeface="Calibri"/>
              <a:cs typeface="Calibri"/>
              <a:sym typeface="Calibri"/>
            </a:endParaRPr>
          </a:p>
        </p:txBody>
      </p:sp>
      <p:grpSp>
        <p:nvGrpSpPr>
          <p:cNvPr id="29" name="Google Shape;131;p25"/>
          <p:cNvGrpSpPr/>
          <p:nvPr/>
        </p:nvGrpSpPr>
        <p:grpSpPr>
          <a:xfrm>
            <a:off x="313939" y="349467"/>
            <a:ext cx="11518312" cy="6218269"/>
            <a:chOff x="313939" y="349466"/>
            <a:chExt cx="11518312" cy="6218269"/>
          </a:xfrm>
        </p:grpSpPr>
        <p:sp>
          <p:nvSpPr>
            <p:cNvPr id="1048588" name="Google Shape;132;p25"/>
            <p:cNvSpPr/>
            <p:nvPr/>
          </p:nvSpPr>
          <p:spPr>
            <a:xfrm>
              <a:off x="11786532" y="360726"/>
              <a:ext cx="45600" cy="1066800"/>
            </a:xfrm>
            <a:prstGeom prst="rect">
              <a:avLst/>
            </a:prstGeom>
            <a:solidFill>
              <a:srgbClr val="F4B081"/>
            </a:solidFill>
            <a:ln>
              <a:noFill/>
            </a:ln>
          </p:spPr>
          <p:txBody>
            <a:bodyPr spcFirstLastPara="1" wrap="square" lIns="91433" tIns="45700" rIns="91433" bIns="45700" anchor="ctr" anchorCtr="0">
              <a:noAutofit/>
            </a:bodyPr>
            <a:lstStyle/>
            <a:p>
              <a:pPr algn="ctr">
                <a:buClr>
                  <a:srgbClr val="000000"/>
                </a:buClr>
                <a:buSzPts val="1400"/>
              </a:pPr>
              <a:endParaRPr sz="1867">
                <a:solidFill>
                  <a:schemeClr val="lt1"/>
                </a:solidFill>
                <a:latin typeface="Calibri"/>
                <a:ea typeface="Calibri"/>
                <a:cs typeface="Calibri"/>
                <a:sym typeface="Calibri"/>
              </a:endParaRPr>
            </a:p>
          </p:txBody>
        </p:sp>
        <p:sp>
          <p:nvSpPr>
            <p:cNvPr id="1048589" name="Google Shape;133;p25"/>
            <p:cNvSpPr/>
            <p:nvPr/>
          </p:nvSpPr>
          <p:spPr>
            <a:xfrm rot="5400000">
              <a:off x="11276051" y="-161134"/>
              <a:ext cx="45600" cy="1066800"/>
            </a:xfrm>
            <a:prstGeom prst="rect">
              <a:avLst/>
            </a:prstGeom>
            <a:solidFill>
              <a:srgbClr val="F4B081"/>
            </a:solidFill>
            <a:ln>
              <a:noFill/>
            </a:ln>
          </p:spPr>
          <p:txBody>
            <a:bodyPr spcFirstLastPara="1" wrap="square" lIns="91433" tIns="45700" rIns="91433" bIns="45700" anchor="ctr" anchorCtr="0">
              <a:noAutofit/>
            </a:bodyPr>
            <a:lstStyle/>
            <a:p>
              <a:pPr algn="ctr">
                <a:buClr>
                  <a:srgbClr val="000000"/>
                </a:buClr>
                <a:buSzPts val="1400"/>
              </a:pPr>
              <a:endParaRPr sz="1867">
                <a:solidFill>
                  <a:schemeClr val="lt1"/>
                </a:solidFill>
                <a:latin typeface="Calibri"/>
                <a:ea typeface="Calibri"/>
                <a:cs typeface="Calibri"/>
                <a:sym typeface="Calibri"/>
              </a:endParaRPr>
            </a:p>
          </p:txBody>
        </p:sp>
        <p:sp>
          <p:nvSpPr>
            <p:cNvPr id="1048590" name="Google Shape;134;p25"/>
            <p:cNvSpPr/>
            <p:nvPr/>
          </p:nvSpPr>
          <p:spPr>
            <a:xfrm rot="5400000">
              <a:off x="824539" y="6011535"/>
              <a:ext cx="45600" cy="1066800"/>
            </a:xfrm>
            <a:prstGeom prst="rect">
              <a:avLst/>
            </a:prstGeom>
            <a:solidFill>
              <a:srgbClr val="F4B081"/>
            </a:solidFill>
            <a:ln>
              <a:noFill/>
            </a:ln>
          </p:spPr>
          <p:txBody>
            <a:bodyPr spcFirstLastPara="1" wrap="square" lIns="91433" tIns="45700" rIns="91433" bIns="45700" anchor="ctr" anchorCtr="0">
              <a:noAutofit/>
            </a:bodyPr>
            <a:lstStyle/>
            <a:p>
              <a:pPr algn="ctr">
                <a:buClr>
                  <a:srgbClr val="000000"/>
                </a:buClr>
                <a:buSzPts val="1400"/>
              </a:pPr>
              <a:endParaRPr sz="1867">
                <a:solidFill>
                  <a:schemeClr val="lt1"/>
                </a:solidFill>
                <a:latin typeface="Calibri"/>
                <a:ea typeface="Calibri"/>
                <a:cs typeface="Calibri"/>
                <a:sym typeface="Calibri"/>
              </a:endParaRPr>
            </a:p>
          </p:txBody>
        </p:sp>
        <p:sp>
          <p:nvSpPr>
            <p:cNvPr id="1048591" name="Google Shape;135;p25"/>
            <p:cNvSpPr/>
            <p:nvPr/>
          </p:nvSpPr>
          <p:spPr>
            <a:xfrm rot="10800000">
              <a:off x="313963" y="5489794"/>
              <a:ext cx="45600" cy="1066800"/>
            </a:xfrm>
            <a:prstGeom prst="rect">
              <a:avLst/>
            </a:prstGeom>
            <a:solidFill>
              <a:srgbClr val="F4B081"/>
            </a:solidFill>
            <a:ln>
              <a:noFill/>
            </a:ln>
          </p:spPr>
          <p:txBody>
            <a:bodyPr spcFirstLastPara="1" wrap="square" lIns="91433" tIns="45700" rIns="91433" bIns="45700" anchor="ctr" anchorCtr="0">
              <a:noAutofit/>
            </a:bodyPr>
            <a:lstStyle/>
            <a:p>
              <a:pPr algn="ctr">
                <a:buClr>
                  <a:srgbClr val="000000"/>
                </a:buClr>
                <a:buSzPts val="1400"/>
              </a:pPr>
              <a:endParaRPr sz="1867">
                <a:solidFill>
                  <a:schemeClr val="lt1"/>
                </a:solidFill>
                <a:latin typeface="Calibri"/>
                <a:ea typeface="Calibri"/>
                <a:cs typeface="Calibri"/>
                <a:sym typeface="Calibri"/>
              </a:endParaRPr>
            </a:p>
          </p:txBody>
        </p:sp>
      </p:grpSp>
      <p:sp>
        <p:nvSpPr>
          <p:cNvPr id="1048592" name="Google Shape;136;p25"/>
          <p:cNvSpPr/>
          <p:nvPr/>
        </p:nvSpPr>
        <p:spPr>
          <a:xfrm>
            <a:off x="4350451" y="1824053"/>
            <a:ext cx="6373796" cy="646400"/>
          </a:xfrm>
          <a:prstGeom prst="rect">
            <a:avLst/>
          </a:prstGeom>
          <a:noFill/>
          <a:ln>
            <a:noFill/>
          </a:ln>
        </p:spPr>
        <p:txBody>
          <a:bodyPr spcFirstLastPara="1" wrap="square" lIns="91433" tIns="45700" rIns="91433" bIns="45700" anchor="t" anchorCtr="0">
            <a:noAutofit/>
          </a:bodyPr>
          <a:lstStyle/>
          <a:p>
            <a:pPr algn="just"/>
            <a:r>
              <a:rPr lang="en-IN" sz="2400" b="1" dirty="0">
                <a:solidFill>
                  <a:srgbClr val="C00000"/>
                </a:solidFill>
                <a:latin typeface="Calibri"/>
                <a:ea typeface="Calibri"/>
                <a:cs typeface="Calibri"/>
                <a:sym typeface="Calibri"/>
              </a:rPr>
              <a:t>Project Title: </a:t>
            </a:r>
            <a:r>
              <a:rPr lang="en-US" sz="2400" b="1" dirty="0"/>
              <a:t> </a:t>
            </a:r>
            <a:r>
              <a:rPr lang="en-US" sz="2400" b="1" dirty="0" err="1"/>
              <a:t>NGOConnect</a:t>
            </a:r>
            <a:r>
              <a:rPr lang="en-US" sz="2400" b="1" dirty="0"/>
              <a:t>: A Web Platform for </a:t>
            </a:r>
          </a:p>
          <a:p>
            <a:pPr algn="just"/>
            <a:r>
              <a:rPr lang="en-US" sz="2400" b="1" dirty="0"/>
              <a:t>Transparent Donations</a:t>
            </a:r>
            <a:endParaRPr lang="en-US" sz="2400" b="1" i="1" dirty="0"/>
          </a:p>
          <a:p>
            <a:pPr>
              <a:buSzPts val="2700"/>
            </a:pPr>
            <a:endParaRPr sz="2400" dirty="0">
              <a:solidFill>
                <a:schemeClr val="accent2"/>
              </a:solidFill>
              <a:latin typeface="Arial"/>
              <a:ea typeface="Arial"/>
              <a:cs typeface="Arial"/>
              <a:sym typeface="Arial"/>
            </a:endParaRPr>
          </a:p>
        </p:txBody>
      </p:sp>
      <p:pic>
        <p:nvPicPr>
          <p:cNvPr id="2097152" name="Google Shape;137;p25"/>
          <p:cNvPicPr preferRelativeResize="0">
            <a:picLocks/>
          </p:cNvPicPr>
          <p:nvPr/>
        </p:nvPicPr>
        <p:blipFill rotWithShape="1">
          <a:blip r:embed="rId3">
            <a:alphaModFix/>
          </a:blip>
          <a:srcRect/>
          <a:stretch>
            <a:fillRect/>
          </a:stretch>
        </p:blipFill>
        <p:spPr>
          <a:xfrm>
            <a:off x="1061720" y="1886067"/>
            <a:ext cx="2286000" cy="3753104"/>
          </a:xfrm>
          <a:prstGeom prst="rect">
            <a:avLst/>
          </a:prstGeom>
          <a:noFill/>
          <a:ln>
            <a:noFill/>
          </a:ln>
        </p:spPr>
      </p:pic>
      <p:sp>
        <p:nvSpPr>
          <p:cNvPr id="1048593" name="Google Shape;138;p25"/>
          <p:cNvSpPr txBox="1"/>
          <p:nvPr/>
        </p:nvSpPr>
        <p:spPr>
          <a:xfrm>
            <a:off x="4350451" y="5192239"/>
            <a:ext cx="6948400" cy="830956"/>
          </a:xfrm>
          <a:prstGeom prst="rect">
            <a:avLst/>
          </a:prstGeom>
          <a:noFill/>
          <a:ln>
            <a:noFill/>
          </a:ln>
        </p:spPr>
        <p:txBody>
          <a:bodyPr spcFirstLastPara="1" wrap="square" lIns="91433" tIns="45700" rIns="91433" bIns="45700" anchor="t" anchorCtr="0">
            <a:spAutoFit/>
          </a:bodyPr>
          <a:lstStyle/>
          <a:p>
            <a:r>
              <a:rPr lang="en-US" sz="2400" b="1" dirty="0">
                <a:latin typeface="Calibri"/>
                <a:ea typeface="Calibri"/>
                <a:cs typeface="Calibri"/>
                <a:sym typeface="Calibri"/>
              </a:rPr>
              <a:t>Guide: Dr. Premalatha H.M.</a:t>
            </a:r>
            <a:r>
              <a:rPr lang="en-US" altLang="en-IN" sz="2400" b="1" dirty="0">
                <a:latin typeface="Calibri"/>
                <a:ea typeface="Calibri"/>
                <a:cs typeface="Calibri"/>
                <a:sym typeface="Calibri"/>
              </a:rPr>
              <a:t> , Assistant Professor </a:t>
            </a:r>
            <a:endParaRPr lang="en-US" sz="2400" b="1" dirty="0">
              <a:latin typeface="Calibri"/>
              <a:ea typeface="Calibri"/>
              <a:cs typeface="Calibri"/>
              <a:sym typeface="Calibri"/>
            </a:endParaRPr>
          </a:p>
          <a:p>
            <a:r>
              <a:rPr lang="en-US" sz="2400" b="1" dirty="0">
                <a:latin typeface="Calibri"/>
                <a:ea typeface="Calibri"/>
                <a:cs typeface="Calibri"/>
                <a:sym typeface="Calibri"/>
              </a:rPr>
              <a:t>               Department of Computer Applications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048596" name="Google Shape;144;p26"/>
          <p:cNvSpPr txBox="1">
            <a:spLocks noGrp="1"/>
          </p:cNvSpPr>
          <p:nvPr>
            <p:ph type="body" idx="1"/>
          </p:nvPr>
        </p:nvSpPr>
        <p:spPr>
          <a:xfrm>
            <a:off x="182905" y="1415733"/>
            <a:ext cx="9296295" cy="5142400"/>
          </a:xfrm>
          <a:prstGeom prst="rect">
            <a:avLst/>
          </a:prstGeom>
          <a:noFill/>
          <a:ln>
            <a:noFill/>
          </a:ln>
        </p:spPr>
        <p:txBody>
          <a:bodyPr spcFirstLastPara="1" vert="horz" wrap="square" lIns="91433" tIns="45700" rIns="91433" bIns="45700" rtlCol="0" anchor="t" anchorCtr="0">
            <a:normAutofit/>
          </a:bodyPr>
          <a:lstStyle/>
          <a:p>
            <a:pPr marL="156194" indent="0" algn="just">
              <a:lnSpc>
                <a:spcPct val="140000"/>
              </a:lnSpc>
              <a:spcBef>
                <a:spcPts val="0"/>
              </a:spcBef>
              <a:buSzPct val="100000"/>
              <a:buNone/>
            </a:pPr>
            <a:r>
              <a:rPr lang="en-US" b="1" dirty="0">
                <a:latin typeface="Calibri" panose="020F0502020204030204" pitchFamily="34" charset="0"/>
                <a:ea typeface="Calibri" panose="020F0502020204030204" pitchFamily="34" charset="0"/>
                <a:cs typeface="Calibri" panose="020F0502020204030204" pitchFamily="34" charset="0"/>
                <a:sym typeface="Arial"/>
              </a:rPr>
              <a:t>Abstract</a:t>
            </a:r>
          </a:p>
          <a:p>
            <a:pPr marL="156194" indent="0" algn="just">
              <a:lnSpc>
                <a:spcPct val="140000"/>
              </a:lnSpc>
              <a:spcBef>
                <a:spcPts val="0"/>
              </a:spcBef>
              <a:buSzPct val="100000"/>
              <a:buNone/>
            </a:pPr>
            <a:endParaRPr lang="en-US" sz="2133" dirty="0">
              <a:latin typeface="Arial"/>
              <a:ea typeface="Arial"/>
              <a:cs typeface="Arial"/>
              <a:sym typeface="Arial"/>
            </a:endParaRPr>
          </a:p>
        </p:txBody>
      </p:sp>
      <p:cxnSp>
        <p:nvCxnSpPr>
          <p:cNvPr id="3145729" name="Google Shape;145;p26"/>
          <p:cNvCxnSpPr>
            <a:cxnSpLocks/>
          </p:cNvCxnSpPr>
          <p:nvPr/>
        </p:nvCxnSpPr>
        <p:spPr>
          <a:xfrm>
            <a:off x="0" y="1049844"/>
            <a:ext cx="9479200" cy="0"/>
          </a:xfrm>
          <a:prstGeom prst="straightConnector1">
            <a:avLst/>
          </a:prstGeom>
          <a:noFill/>
          <a:ln w="38100" cap="flat" cmpd="sng">
            <a:solidFill>
              <a:srgbClr val="DFA267"/>
            </a:solidFill>
            <a:prstDash val="solid"/>
            <a:miter lim="800000"/>
            <a:headEnd type="none" w="sm" len="sm"/>
            <a:tailEnd type="none" w="sm" len="sm"/>
          </a:ln>
        </p:spPr>
      </p:cxnSp>
      <p:sp>
        <p:nvSpPr>
          <p:cNvPr id="1048597" name="Google Shape;146;p26"/>
          <p:cNvSpPr/>
          <p:nvPr/>
        </p:nvSpPr>
        <p:spPr>
          <a:xfrm>
            <a:off x="182905" y="299867"/>
            <a:ext cx="7497200" cy="492400"/>
          </a:xfrm>
          <a:prstGeom prst="rect">
            <a:avLst/>
          </a:prstGeom>
          <a:noFill/>
          <a:ln>
            <a:noFill/>
          </a:ln>
        </p:spPr>
        <p:txBody>
          <a:bodyPr spcFirstLastPara="1" wrap="square" lIns="91433" tIns="45700" rIns="91433" bIns="45700" anchor="t" anchorCtr="0">
            <a:noAutofit/>
          </a:bodyPr>
          <a:lstStyle/>
          <a:p>
            <a:pPr>
              <a:buClr>
                <a:srgbClr val="000000"/>
              </a:buClr>
              <a:buSzPts val="2300"/>
            </a:pPr>
            <a:r>
              <a:rPr lang="en" sz="3600" b="1" dirty="0">
                <a:solidFill>
                  <a:srgbClr val="2F5496"/>
                </a:solidFill>
                <a:latin typeface="Calibri"/>
                <a:ea typeface="Calibri"/>
                <a:cs typeface="Calibri"/>
                <a:sym typeface="Calibri"/>
              </a:rPr>
              <a:t>Title of the project </a:t>
            </a:r>
            <a:endParaRPr sz="1867" dirty="0">
              <a:solidFill>
                <a:srgbClr val="000000"/>
              </a:solidFill>
              <a:latin typeface="Arial"/>
              <a:ea typeface="Arial"/>
              <a:cs typeface="Arial"/>
              <a:sym typeface="Arial"/>
            </a:endParaRPr>
          </a:p>
        </p:txBody>
      </p:sp>
      <p:pic>
        <p:nvPicPr>
          <p:cNvPr id="2097153" name="Picture 1"/>
          <p:cNvPicPr>
            <a:picLocks noChangeAspect="1"/>
          </p:cNvPicPr>
          <p:nvPr/>
        </p:nvPicPr>
        <p:blipFill>
          <a:blip r:embed="rId3"/>
          <a:stretch>
            <a:fillRect/>
          </a:stretch>
        </p:blipFill>
        <p:spPr>
          <a:xfrm>
            <a:off x="10787743" y="299867"/>
            <a:ext cx="1023356" cy="1681033"/>
          </a:xfrm>
          <a:prstGeom prst="rect">
            <a:avLst/>
          </a:prstGeom>
        </p:spPr>
      </p:pic>
      <p:sp>
        <p:nvSpPr>
          <p:cNvPr id="6" name="TextBox 5">
            <a:extLst>
              <a:ext uri="{FF2B5EF4-FFF2-40B4-BE49-F238E27FC236}">
                <a16:creationId xmlns:a16="http://schemas.microsoft.com/office/drawing/2014/main" id="{A353382D-091E-5C90-A15C-742AA0CEA2D5}"/>
              </a:ext>
            </a:extLst>
          </p:cNvPr>
          <p:cNvSpPr txBox="1"/>
          <p:nvPr/>
        </p:nvSpPr>
        <p:spPr>
          <a:xfrm>
            <a:off x="352926" y="2091929"/>
            <a:ext cx="10732169" cy="3416320"/>
          </a:xfrm>
          <a:prstGeom prst="rect">
            <a:avLst/>
          </a:prstGeom>
          <a:noFill/>
        </p:spPr>
        <p:txBody>
          <a:bodyPr wrap="square" rtlCol="0">
            <a:spAutoFit/>
          </a:bodyPr>
          <a:lstStyle/>
          <a:p>
            <a:pPr algn="just"/>
            <a:r>
              <a:rPr lang="en-US" sz="2400" dirty="0"/>
              <a:t>This project is a web-based platform that connects donors—such as individuals, restaurants, and caterers—with NGOs to distribute surplus resources like food, clothes, and toys to the needy. Donors can locate nearby NGOs using Google Maps, specify donation details, and request pickup or drop services. NGOs register with valid certifications, which are verified by BBMP (admin) to ensure authenticity. The system includes real-time messaging, time-bound conditions for food donations, and a MERN stack implementation, providing a secure, transparent, and efficient channel to reduce resource wastage and support underprivileged communities.</a:t>
            </a:r>
          </a:p>
          <a:p>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048600" name="Google Shape;144;p26"/>
          <p:cNvSpPr txBox="1">
            <a:spLocks noGrp="1"/>
          </p:cNvSpPr>
          <p:nvPr>
            <p:ph type="body" idx="1"/>
          </p:nvPr>
        </p:nvSpPr>
        <p:spPr>
          <a:xfrm>
            <a:off x="182905" y="1415733"/>
            <a:ext cx="9296295" cy="5142400"/>
          </a:xfrm>
          <a:prstGeom prst="rect">
            <a:avLst/>
          </a:prstGeom>
          <a:noFill/>
          <a:ln>
            <a:noFill/>
          </a:ln>
        </p:spPr>
        <p:txBody>
          <a:bodyPr spcFirstLastPara="1" vert="horz" wrap="square" lIns="91433" tIns="45700" rIns="91433" bIns="45700" rtlCol="0" anchor="t" anchorCtr="0">
            <a:normAutofit/>
          </a:bodyPr>
          <a:lstStyle/>
          <a:p>
            <a:pPr marL="156194" indent="0" algn="just">
              <a:lnSpc>
                <a:spcPct val="140000"/>
              </a:lnSpc>
              <a:spcBef>
                <a:spcPts val="0"/>
              </a:spcBef>
              <a:buSzPct val="100000"/>
              <a:buNone/>
            </a:pPr>
            <a:r>
              <a:rPr lang="en-US" b="1" dirty="0">
                <a:latin typeface="Calibri" panose="020F0502020204030204" pitchFamily="34" charset="0"/>
                <a:ea typeface="Calibri" panose="020F0502020204030204" pitchFamily="34" charset="0"/>
                <a:cs typeface="Calibri" panose="020F0502020204030204" pitchFamily="34" charset="0"/>
                <a:sym typeface="Arial"/>
              </a:rPr>
              <a:t>Problem Statement</a:t>
            </a:r>
          </a:p>
          <a:p>
            <a:pPr marL="156194" indent="0" algn="just">
              <a:lnSpc>
                <a:spcPct val="140000"/>
              </a:lnSpc>
              <a:spcBef>
                <a:spcPts val="0"/>
              </a:spcBef>
              <a:buSzPct val="100000"/>
              <a:buNone/>
            </a:pPr>
            <a:r>
              <a:rPr lang="en-US" sz="2133" dirty="0">
                <a:solidFill>
                  <a:srgbClr val="FF0000"/>
                </a:solidFill>
                <a:effectLst>
                  <a:outerShdw blurRad="38100" dist="38100" dir="2700000" algn="tl">
                    <a:srgbClr val="000000">
                      <a:alpha val="43137"/>
                    </a:srgbClr>
                  </a:outerShdw>
                </a:effectLst>
                <a:latin typeface="Arial"/>
                <a:ea typeface="Arial"/>
                <a:cs typeface="Arial"/>
                <a:sym typeface="Arial"/>
              </a:rPr>
              <a:t>Why we need this project???</a:t>
            </a:r>
          </a:p>
          <a:p>
            <a:pPr marL="156194" indent="0" algn="just">
              <a:lnSpc>
                <a:spcPct val="140000"/>
              </a:lnSpc>
              <a:spcBef>
                <a:spcPts val="0"/>
              </a:spcBef>
              <a:buSzPct val="100000"/>
              <a:buNone/>
            </a:pPr>
            <a:endParaRPr lang="en-US" sz="2133" dirty="0">
              <a:latin typeface="Arial"/>
              <a:ea typeface="Arial"/>
              <a:cs typeface="Arial"/>
              <a:sym typeface="Arial"/>
            </a:endParaRPr>
          </a:p>
        </p:txBody>
      </p:sp>
      <p:cxnSp>
        <p:nvCxnSpPr>
          <p:cNvPr id="3145730" name="Google Shape;145;p26"/>
          <p:cNvCxnSpPr>
            <a:cxnSpLocks/>
          </p:cNvCxnSpPr>
          <p:nvPr/>
        </p:nvCxnSpPr>
        <p:spPr>
          <a:xfrm>
            <a:off x="0" y="1049844"/>
            <a:ext cx="9479200" cy="0"/>
          </a:xfrm>
          <a:prstGeom prst="straightConnector1">
            <a:avLst/>
          </a:prstGeom>
          <a:noFill/>
          <a:ln w="38100" cap="flat" cmpd="sng">
            <a:solidFill>
              <a:srgbClr val="DFA267"/>
            </a:solidFill>
            <a:prstDash val="solid"/>
            <a:miter lim="800000"/>
            <a:headEnd type="none" w="sm" len="sm"/>
            <a:tailEnd type="none" w="sm" len="sm"/>
          </a:ln>
        </p:spPr>
      </p:cxnSp>
      <p:sp>
        <p:nvSpPr>
          <p:cNvPr id="1048601" name="Google Shape;146;p26"/>
          <p:cNvSpPr/>
          <p:nvPr/>
        </p:nvSpPr>
        <p:spPr>
          <a:xfrm>
            <a:off x="182905" y="299867"/>
            <a:ext cx="7497200" cy="492400"/>
          </a:xfrm>
          <a:prstGeom prst="rect">
            <a:avLst/>
          </a:prstGeom>
          <a:noFill/>
          <a:ln>
            <a:noFill/>
          </a:ln>
        </p:spPr>
        <p:txBody>
          <a:bodyPr spcFirstLastPara="1" wrap="square" lIns="91433" tIns="45700" rIns="91433" bIns="45700" anchor="t" anchorCtr="0">
            <a:noAutofit/>
          </a:bodyPr>
          <a:lstStyle/>
          <a:p>
            <a:pPr>
              <a:buClr>
                <a:srgbClr val="000000"/>
              </a:buClr>
              <a:buSzPts val="2300"/>
            </a:pPr>
            <a:r>
              <a:rPr lang="en" sz="3600" b="1" dirty="0">
                <a:solidFill>
                  <a:srgbClr val="2F5496"/>
                </a:solidFill>
                <a:latin typeface="Calibri"/>
                <a:ea typeface="Calibri"/>
                <a:cs typeface="Calibri"/>
                <a:sym typeface="Calibri"/>
              </a:rPr>
              <a:t>Title of the project </a:t>
            </a:r>
            <a:endParaRPr sz="1867" dirty="0">
              <a:solidFill>
                <a:srgbClr val="000000"/>
              </a:solidFill>
              <a:latin typeface="Arial"/>
              <a:ea typeface="Arial"/>
              <a:cs typeface="Arial"/>
              <a:sym typeface="Arial"/>
            </a:endParaRPr>
          </a:p>
        </p:txBody>
      </p:sp>
      <p:pic>
        <p:nvPicPr>
          <p:cNvPr id="2097154" name="Picture 1"/>
          <p:cNvPicPr>
            <a:picLocks noChangeAspect="1"/>
          </p:cNvPicPr>
          <p:nvPr/>
        </p:nvPicPr>
        <p:blipFill>
          <a:blip r:embed="rId3"/>
          <a:stretch>
            <a:fillRect/>
          </a:stretch>
        </p:blipFill>
        <p:spPr>
          <a:xfrm>
            <a:off x="10787743" y="299867"/>
            <a:ext cx="1023356" cy="1681033"/>
          </a:xfrm>
          <a:prstGeom prst="rect">
            <a:avLst/>
          </a:prstGeom>
        </p:spPr>
      </p:pic>
      <p:sp>
        <p:nvSpPr>
          <p:cNvPr id="2" name="TextBox 1">
            <a:extLst>
              <a:ext uri="{FF2B5EF4-FFF2-40B4-BE49-F238E27FC236}">
                <a16:creationId xmlns:a16="http://schemas.microsoft.com/office/drawing/2014/main" id="{BA6BD325-BD9E-FB9D-A79F-B8322A72876D}"/>
              </a:ext>
            </a:extLst>
          </p:cNvPr>
          <p:cNvSpPr txBox="1"/>
          <p:nvPr/>
        </p:nvSpPr>
        <p:spPr>
          <a:xfrm>
            <a:off x="497305" y="2422358"/>
            <a:ext cx="8981895" cy="3970318"/>
          </a:xfrm>
          <a:prstGeom prst="rect">
            <a:avLst/>
          </a:prstGeom>
          <a:noFill/>
        </p:spPr>
        <p:txBody>
          <a:bodyPr wrap="square" rtlCol="0">
            <a:spAutoFit/>
          </a:bodyPr>
          <a:lstStyle/>
          <a:p>
            <a:pPr algn="just"/>
            <a:r>
              <a:rPr lang="en-US" sz="2800" dirty="0"/>
              <a:t>Despite the willingness of individuals, restaurants, and caterers to donate surplus food, clothes, and other essentials, there is no structured and transparent system to connect them with verified NGOs. This leads to wastage of resources, difficulty in locating nearby NGOs, and risks of scams due to lack of authentication. There is a need for a secure, location-based platform that ensures timely utilization of donations and builds trust between donors and NGOs.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048604" name="Google Shape;144;p26"/>
          <p:cNvSpPr txBox="1">
            <a:spLocks noGrp="1"/>
          </p:cNvSpPr>
          <p:nvPr>
            <p:ph type="body" idx="1"/>
          </p:nvPr>
        </p:nvSpPr>
        <p:spPr>
          <a:xfrm>
            <a:off x="182905" y="1415733"/>
            <a:ext cx="9296295" cy="5142400"/>
          </a:xfrm>
          <a:prstGeom prst="rect">
            <a:avLst/>
          </a:prstGeom>
          <a:noFill/>
          <a:ln>
            <a:noFill/>
          </a:ln>
        </p:spPr>
        <p:txBody>
          <a:bodyPr spcFirstLastPara="1" vert="horz" wrap="square" lIns="91433" tIns="45700" rIns="91433" bIns="45700" rtlCol="0" anchor="t" anchorCtr="0">
            <a:normAutofit/>
          </a:bodyPr>
          <a:lstStyle/>
          <a:p>
            <a:pPr marL="156194" indent="0" algn="just">
              <a:lnSpc>
                <a:spcPct val="140000"/>
              </a:lnSpc>
              <a:spcBef>
                <a:spcPts val="0"/>
              </a:spcBef>
              <a:buSzPct val="100000"/>
              <a:buNone/>
            </a:pPr>
            <a:r>
              <a:rPr lang="en-US" b="1" dirty="0">
                <a:latin typeface="Calibri" panose="020F0502020204030204" pitchFamily="34" charset="0"/>
                <a:ea typeface="Calibri" panose="020F0502020204030204" pitchFamily="34" charset="0"/>
                <a:cs typeface="Calibri" panose="020F0502020204030204" pitchFamily="34" charset="0"/>
                <a:sym typeface="Arial"/>
              </a:rPr>
              <a:t>Domain Study</a:t>
            </a:r>
          </a:p>
          <a:p>
            <a:pPr marL="156194" indent="0" algn="just">
              <a:lnSpc>
                <a:spcPct val="140000"/>
              </a:lnSpc>
              <a:spcBef>
                <a:spcPts val="0"/>
              </a:spcBef>
              <a:buSzPct val="100000"/>
              <a:buNone/>
            </a:pPr>
            <a:endParaRPr lang="en-US" sz="2133" dirty="0">
              <a:latin typeface="Arial"/>
              <a:ea typeface="Arial"/>
              <a:cs typeface="Arial"/>
              <a:sym typeface="Arial"/>
            </a:endParaRPr>
          </a:p>
        </p:txBody>
      </p:sp>
      <p:cxnSp>
        <p:nvCxnSpPr>
          <p:cNvPr id="3145731" name="Google Shape;145;p26"/>
          <p:cNvCxnSpPr>
            <a:cxnSpLocks/>
          </p:cNvCxnSpPr>
          <p:nvPr/>
        </p:nvCxnSpPr>
        <p:spPr>
          <a:xfrm>
            <a:off x="0" y="1049844"/>
            <a:ext cx="9479200" cy="0"/>
          </a:xfrm>
          <a:prstGeom prst="straightConnector1">
            <a:avLst/>
          </a:prstGeom>
          <a:noFill/>
          <a:ln w="38100" cap="flat" cmpd="sng">
            <a:solidFill>
              <a:srgbClr val="DFA267"/>
            </a:solidFill>
            <a:prstDash val="solid"/>
            <a:miter lim="800000"/>
            <a:headEnd type="none" w="sm" len="sm"/>
            <a:tailEnd type="none" w="sm" len="sm"/>
          </a:ln>
        </p:spPr>
      </p:cxnSp>
      <p:sp>
        <p:nvSpPr>
          <p:cNvPr id="1048605" name="Google Shape;146;p26"/>
          <p:cNvSpPr/>
          <p:nvPr/>
        </p:nvSpPr>
        <p:spPr>
          <a:xfrm>
            <a:off x="182905" y="299867"/>
            <a:ext cx="7497200" cy="492400"/>
          </a:xfrm>
          <a:prstGeom prst="rect">
            <a:avLst/>
          </a:prstGeom>
          <a:noFill/>
          <a:ln>
            <a:noFill/>
          </a:ln>
        </p:spPr>
        <p:txBody>
          <a:bodyPr spcFirstLastPara="1" wrap="square" lIns="91433" tIns="45700" rIns="91433" bIns="45700" anchor="t" anchorCtr="0">
            <a:noAutofit/>
          </a:bodyPr>
          <a:lstStyle/>
          <a:p>
            <a:pPr>
              <a:buClr>
                <a:srgbClr val="000000"/>
              </a:buClr>
              <a:buSzPts val="2300"/>
            </a:pPr>
            <a:r>
              <a:rPr lang="en" sz="3600" b="1" dirty="0">
                <a:solidFill>
                  <a:srgbClr val="2F5496"/>
                </a:solidFill>
                <a:latin typeface="Calibri"/>
                <a:ea typeface="Calibri"/>
                <a:cs typeface="Calibri"/>
                <a:sym typeface="Calibri"/>
              </a:rPr>
              <a:t>Title of the project </a:t>
            </a:r>
            <a:endParaRPr sz="1867" dirty="0">
              <a:solidFill>
                <a:srgbClr val="000000"/>
              </a:solidFill>
              <a:latin typeface="Arial"/>
              <a:ea typeface="Arial"/>
              <a:cs typeface="Arial"/>
              <a:sym typeface="Arial"/>
            </a:endParaRPr>
          </a:p>
        </p:txBody>
      </p:sp>
      <p:pic>
        <p:nvPicPr>
          <p:cNvPr id="2097155" name="Picture 1"/>
          <p:cNvPicPr>
            <a:picLocks noChangeAspect="1"/>
          </p:cNvPicPr>
          <p:nvPr/>
        </p:nvPicPr>
        <p:blipFill>
          <a:blip r:embed="rId3"/>
          <a:stretch>
            <a:fillRect/>
          </a:stretch>
        </p:blipFill>
        <p:spPr>
          <a:xfrm>
            <a:off x="10787743" y="299867"/>
            <a:ext cx="1023356" cy="1681033"/>
          </a:xfrm>
          <a:prstGeom prst="rect">
            <a:avLst/>
          </a:prstGeom>
        </p:spPr>
      </p:pic>
      <p:sp>
        <p:nvSpPr>
          <p:cNvPr id="10" name="TextBox 9">
            <a:extLst>
              <a:ext uri="{FF2B5EF4-FFF2-40B4-BE49-F238E27FC236}">
                <a16:creationId xmlns:a16="http://schemas.microsoft.com/office/drawing/2014/main" id="{825DA6C0-837D-3CB1-46FD-8D2A6FC54CB7}"/>
              </a:ext>
            </a:extLst>
          </p:cNvPr>
          <p:cNvSpPr txBox="1"/>
          <p:nvPr/>
        </p:nvSpPr>
        <p:spPr>
          <a:xfrm>
            <a:off x="486137" y="2349661"/>
            <a:ext cx="8993063" cy="2677656"/>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Domain: Social Welfare </a:t>
            </a:r>
          </a:p>
          <a:p>
            <a:pPr marL="342900" indent="-342900" algn="just">
              <a:buFont typeface="Arial" panose="020B0604020202020204" pitchFamily="34" charset="0"/>
              <a:buChar char="•"/>
            </a:pPr>
            <a:r>
              <a:rPr lang="en-US" sz="2400" dirty="0"/>
              <a:t>Objective: Connecting donors with NGOs through a web based platform</a:t>
            </a:r>
          </a:p>
          <a:p>
            <a:pPr marL="342900" indent="-342900" algn="just">
              <a:buFont typeface="Arial" panose="020B0604020202020204" pitchFamily="34" charset="0"/>
              <a:buChar char="•"/>
            </a:pPr>
            <a:r>
              <a:rPr lang="en-US" sz="2400" dirty="0"/>
              <a:t>Donor-NGO Interaction: Bridging the gap between donors and verified.</a:t>
            </a:r>
          </a:p>
          <a:p>
            <a:pPr marL="342900" indent="-342900" algn="just">
              <a:buFont typeface="Arial" panose="020B0604020202020204" pitchFamily="34" charset="0"/>
              <a:buChar char="•"/>
            </a:pPr>
            <a:r>
              <a:rPr lang="en-US" sz="2400" dirty="0"/>
              <a:t>Technol &amp; accountability: Ensuring trust through NGO verification </a:t>
            </a:r>
          </a:p>
          <a:p>
            <a:pPr marL="342900" indent="-342900" algn="just">
              <a:buFont typeface="Arial" panose="020B0604020202020204" pitchFamily="34" charset="0"/>
              <a:buChar char="•"/>
            </a:pPr>
            <a:r>
              <a:rPr lang="en-US" sz="2400" dirty="0"/>
              <a:t>Scalability: Potential to extend the system to multiple cities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048608" name="Google Shape;144;p26"/>
          <p:cNvSpPr txBox="1">
            <a:spLocks noGrp="1"/>
          </p:cNvSpPr>
          <p:nvPr>
            <p:ph type="body" idx="1"/>
          </p:nvPr>
        </p:nvSpPr>
        <p:spPr>
          <a:xfrm>
            <a:off x="182904" y="1415733"/>
            <a:ext cx="9296295" cy="5142400"/>
          </a:xfrm>
          <a:prstGeom prst="rect">
            <a:avLst/>
          </a:prstGeom>
          <a:noFill/>
          <a:ln>
            <a:noFill/>
          </a:ln>
        </p:spPr>
        <p:txBody>
          <a:bodyPr spcFirstLastPara="1" vert="horz" wrap="square" lIns="91433" tIns="45700" rIns="91433" bIns="45700" rtlCol="0" anchor="t" anchorCtr="0">
            <a:normAutofit/>
          </a:bodyPr>
          <a:lstStyle/>
          <a:p>
            <a:pPr marL="0" indent="0">
              <a:buNone/>
            </a:pPr>
            <a:r>
              <a:rPr lang="en-US" b="1" dirty="0"/>
              <a:t>Motivation to select this project work</a:t>
            </a:r>
          </a:p>
        </p:txBody>
      </p:sp>
      <p:cxnSp>
        <p:nvCxnSpPr>
          <p:cNvPr id="3145732" name="Google Shape;145;p26"/>
          <p:cNvCxnSpPr>
            <a:cxnSpLocks/>
          </p:cNvCxnSpPr>
          <p:nvPr/>
        </p:nvCxnSpPr>
        <p:spPr>
          <a:xfrm>
            <a:off x="0" y="1049844"/>
            <a:ext cx="9479200" cy="0"/>
          </a:xfrm>
          <a:prstGeom prst="straightConnector1">
            <a:avLst/>
          </a:prstGeom>
          <a:noFill/>
          <a:ln w="38100" cap="flat" cmpd="sng">
            <a:solidFill>
              <a:srgbClr val="DFA267"/>
            </a:solidFill>
            <a:prstDash val="solid"/>
            <a:miter lim="800000"/>
            <a:headEnd type="none" w="sm" len="sm"/>
            <a:tailEnd type="none" w="sm" len="sm"/>
          </a:ln>
        </p:spPr>
      </p:cxnSp>
      <p:sp>
        <p:nvSpPr>
          <p:cNvPr id="1048609" name="Google Shape;146;p26"/>
          <p:cNvSpPr/>
          <p:nvPr/>
        </p:nvSpPr>
        <p:spPr>
          <a:xfrm>
            <a:off x="182905" y="299867"/>
            <a:ext cx="7497200" cy="492400"/>
          </a:xfrm>
          <a:prstGeom prst="rect">
            <a:avLst/>
          </a:prstGeom>
          <a:noFill/>
          <a:ln>
            <a:noFill/>
          </a:ln>
        </p:spPr>
        <p:txBody>
          <a:bodyPr spcFirstLastPara="1" wrap="square" lIns="91433" tIns="45700" rIns="91433" bIns="45700" anchor="t" anchorCtr="0">
            <a:noAutofit/>
          </a:bodyPr>
          <a:lstStyle/>
          <a:p>
            <a:pPr>
              <a:buClr>
                <a:srgbClr val="000000"/>
              </a:buClr>
              <a:buSzPts val="2300"/>
            </a:pPr>
            <a:r>
              <a:rPr lang="en" sz="3600" b="1" dirty="0">
                <a:solidFill>
                  <a:srgbClr val="2F5496"/>
                </a:solidFill>
                <a:latin typeface="Calibri"/>
                <a:ea typeface="Calibri"/>
                <a:cs typeface="Calibri"/>
                <a:sym typeface="Calibri"/>
              </a:rPr>
              <a:t>Title of the project </a:t>
            </a:r>
            <a:endParaRPr sz="1867" dirty="0">
              <a:solidFill>
                <a:srgbClr val="000000"/>
              </a:solidFill>
              <a:latin typeface="Arial"/>
              <a:ea typeface="Arial"/>
              <a:cs typeface="Arial"/>
              <a:sym typeface="Arial"/>
            </a:endParaRPr>
          </a:p>
        </p:txBody>
      </p:sp>
      <p:pic>
        <p:nvPicPr>
          <p:cNvPr id="2097156" name="Picture 1"/>
          <p:cNvPicPr>
            <a:picLocks noChangeAspect="1"/>
          </p:cNvPicPr>
          <p:nvPr/>
        </p:nvPicPr>
        <p:blipFill>
          <a:blip r:embed="rId3"/>
          <a:stretch>
            <a:fillRect/>
          </a:stretch>
        </p:blipFill>
        <p:spPr>
          <a:xfrm>
            <a:off x="10787743" y="299867"/>
            <a:ext cx="1023356" cy="1681033"/>
          </a:xfrm>
          <a:prstGeom prst="rect">
            <a:avLst/>
          </a:prstGeom>
        </p:spPr>
      </p:pic>
      <p:sp>
        <p:nvSpPr>
          <p:cNvPr id="2" name="TextBox 1">
            <a:extLst>
              <a:ext uri="{FF2B5EF4-FFF2-40B4-BE49-F238E27FC236}">
                <a16:creationId xmlns:a16="http://schemas.microsoft.com/office/drawing/2014/main" id="{E112C59D-E739-254F-3971-6E43E2D21A49}"/>
              </a:ext>
            </a:extLst>
          </p:cNvPr>
          <p:cNvSpPr txBox="1"/>
          <p:nvPr/>
        </p:nvSpPr>
        <p:spPr>
          <a:xfrm>
            <a:off x="182905" y="2406316"/>
            <a:ext cx="9296295" cy="4401205"/>
          </a:xfrm>
          <a:prstGeom prst="rect">
            <a:avLst/>
          </a:prstGeom>
          <a:noFill/>
        </p:spPr>
        <p:txBody>
          <a:bodyPr wrap="square" rtlCol="0">
            <a:spAutoFit/>
          </a:bodyPr>
          <a:lstStyle/>
          <a:p>
            <a:pPr marL="457200" indent="-457200">
              <a:buFont typeface="Arial" panose="020B0604020202020204" pitchFamily="34" charset="0"/>
              <a:buChar char="•"/>
            </a:pPr>
            <a:r>
              <a:rPr lang="en-US" sz="2800" dirty="0"/>
              <a:t>Large amounts of food, clothes, and usable items go to waste daily due to lack of proper donation channels.</a:t>
            </a:r>
          </a:p>
          <a:p>
            <a:pPr marL="457200" indent="-457200">
              <a:buFont typeface="Arial" panose="020B0604020202020204" pitchFamily="34" charset="0"/>
              <a:buChar char="•"/>
            </a:pPr>
            <a:r>
              <a:rPr lang="en-US" sz="2800" dirty="0"/>
              <a:t>Donors face difficulty in finding nearby NGOs and ensuring their contributions reach the right people.</a:t>
            </a:r>
          </a:p>
          <a:p>
            <a:pPr marL="457200" indent="-457200">
              <a:buFont typeface="Arial" panose="020B0604020202020204" pitchFamily="34" charset="0"/>
              <a:buChar char="•"/>
            </a:pPr>
            <a:r>
              <a:rPr lang="en-US" sz="2800" dirty="0"/>
              <a:t>NGOs struggle with authenticity verification and logistics management, reducing their efficiency.</a:t>
            </a:r>
          </a:p>
          <a:p>
            <a:pPr marL="457200" indent="-457200">
              <a:buFont typeface="Arial" panose="020B0604020202020204" pitchFamily="34" charset="0"/>
              <a:buChar char="•"/>
            </a:pPr>
            <a:r>
              <a:rPr lang="en-US" sz="2800" dirty="0"/>
              <a:t>A secure, transparent, and location-based platform can minimize resource wastage and create a positive social impact by connecting donors with verified NGOs.</a:t>
            </a:r>
          </a:p>
          <a:p>
            <a:pPr marL="457200" indent="-457200">
              <a:buFont typeface="Arial" panose="020B0604020202020204" pitchFamily="34" charset="0"/>
              <a:buChar char="•"/>
            </a:pP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9DFAE588-6701-86DA-CCE7-ACE8ABD4BC2A}"/>
            </a:ext>
          </a:extLst>
        </p:cNvPr>
        <p:cNvGrpSpPr/>
        <p:nvPr/>
      </p:nvGrpSpPr>
      <p:grpSpPr>
        <a:xfrm>
          <a:off x="0" y="0"/>
          <a:ext cx="0" cy="0"/>
          <a:chOff x="0" y="0"/>
          <a:chExt cx="0" cy="0"/>
        </a:xfrm>
      </p:grpSpPr>
      <p:sp>
        <p:nvSpPr>
          <p:cNvPr id="1048612" name="Google Shape;144;p26">
            <a:extLst>
              <a:ext uri="{FF2B5EF4-FFF2-40B4-BE49-F238E27FC236}">
                <a16:creationId xmlns:a16="http://schemas.microsoft.com/office/drawing/2014/main" id="{E07D969E-D657-B845-8486-7AC1D40B52AB}"/>
              </a:ext>
            </a:extLst>
          </p:cNvPr>
          <p:cNvSpPr txBox="1">
            <a:spLocks noGrp="1"/>
          </p:cNvSpPr>
          <p:nvPr>
            <p:ph type="body" idx="1"/>
          </p:nvPr>
        </p:nvSpPr>
        <p:spPr>
          <a:xfrm>
            <a:off x="182905" y="1415733"/>
            <a:ext cx="9296295" cy="5142400"/>
          </a:xfrm>
          <a:prstGeom prst="rect">
            <a:avLst/>
          </a:prstGeom>
          <a:noFill/>
          <a:ln>
            <a:noFill/>
          </a:ln>
        </p:spPr>
        <p:txBody>
          <a:bodyPr spcFirstLastPara="1" vert="horz" wrap="square" lIns="91433" tIns="45700" rIns="91433" bIns="45700" rtlCol="0" anchor="t" anchorCtr="0">
            <a:normAutofit/>
          </a:bodyPr>
          <a:lstStyle/>
          <a:p>
            <a:pPr marL="0" indent="0">
              <a:buNone/>
            </a:pPr>
            <a:r>
              <a:rPr lang="en-IN" b="1" dirty="0"/>
              <a:t>Functionalities</a:t>
            </a:r>
            <a:endParaRPr lang="en-US" sz="2133" dirty="0">
              <a:solidFill>
                <a:srgbClr val="C00000"/>
              </a:solidFill>
              <a:latin typeface="Arial"/>
              <a:ea typeface="Arial"/>
              <a:cs typeface="Arial"/>
              <a:sym typeface="Arial"/>
            </a:endParaRPr>
          </a:p>
        </p:txBody>
      </p:sp>
      <p:cxnSp>
        <p:nvCxnSpPr>
          <p:cNvPr id="3145733" name="Google Shape;145;p26">
            <a:extLst>
              <a:ext uri="{FF2B5EF4-FFF2-40B4-BE49-F238E27FC236}">
                <a16:creationId xmlns:a16="http://schemas.microsoft.com/office/drawing/2014/main" id="{E9B82CF6-0C96-3D80-2214-7ABFDAEBC21E}"/>
              </a:ext>
            </a:extLst>
          </p:cNvPr>
          <p:cNvCxnSpPr>
            <a:cxnSpLocks/>
          </p:cNvCxnSpPr>
          <p:nvPr/>
        </p:nvCxnSpPr>
        <p:spPr>
          <a:xfrm>
            <a:off x="0" y="1049844"/>
            <a:ext cx="9479200" cy="0"/>
          </a:xfrm>
          <a:prstGeom prst="straightConnector1">
            <a:avLst/>
          </a:prstGeom>
          <a:noFill/>
          <a:ln w="38100" cap="flat" cmpd="sng">
            <a:solidFill>
              <a:srgbClr val="DFA267"/>
            </a:solidFill>
            <a:prstDash val="solid"/>
            <a:miter lim="800000"/>
            <a:headEnd type="none" w="sm" len="sm"/>
            <a:tailEnd type="none" w="sm" len="sm"/>
          </a:ln>
        </p:spPr>
      </p:cxnSp>
      <p:sp>
        <p:nvSpPr>
          <p:cNvPr id="1048613" name="Google Shape;146;p26">
            <a:extLst>
              <a:ext uri="{FF2B5EF4-FFF2-40B4-BE49-F238E27FC236}">
                <a16:creationId xmlns:a16="http://schemas.microsoft.com/office/drawing/2014/main" id="{774231BC-8B86-5D5D-6AEE-405DB590CDAC}"/>
              </a:ext>
            </a:extLst>
          </p:cNvPr>
          <p:cNvSpPr/>
          <p:nvPr/>
        </p:nvSpPr>
        <p:spPr>
          <a:xfrm>
            <a:off x="182905" y="299867"/>
            <a:ext cx="7497200" cy="492400"/>
          </a:xfrm>
          <a:prstGeom prst="rect">
            <a:avLst/>
          </a:prstGeom>
          <a:noFill/>
          <a:ln>
            <a:noFill/>
          </a:ln>
        </p:spPr>
        <p:txBody>
          <a:bodyPr spcFirstLastPara="1" wrap="square" lIns="91433" tIns="45700" rIns="91433" bIns="45700" anchor="t" anchorCtr="0">
            <a:noAutofit/>
          </a:bodyPr>
          <a:lstStyle/>
          <a:p>
            <a:pPr>
              <a:buClr>
                <a:srgbClr val="000000"/>
              </a:buClr>
              <a:buSzPts val="2300"/>
            </a:pPr>
            <a:r>
              <a:rPr lang="en" sz="3600" b="1" dirty="0">
                <a:solidFill>
                  <a:srgbClr val="2F5496"/>
                </a:solidFill>
                <a:latin typeface="Calibri"/>
                <a:ea typeface="Calibri"/>
                <a:cs typeface="Calibri"/>
                <a:sym typeface="Calibri"/>
              </a:rPr>
              <a:t>Title of the project </a:t>
            </a:r>
            <a:endParaRPr sz="1867" dirty="0">
              <a:solidFill>
                <a:srgbClr val="000000"/>
              </a:solidFill>
              <a:latin typeface="Arial"/>
              <a:ea typeface="Arial"/>
              <a:cs typeface="Arial"/>
              <a:sym typeface="Arial"/>
            </a:endParaRPr>
          </a:p>
        </p:txBody>
      </p:sp>
      <p:pic>
        <p:nvPicPr>
          <p:cNvPr id="2097157" name="Picture 1">
            <a:extLst>
              <a:ext uri="{FF2B5EF4-FFF2-40B4-BE49-F238E27FC236}">
                <a16:creationId xmlns:a16="http://schemas.microsoft.com/office/drawing/2014/main" id="{F90E2DB0-FD58-B5F2-2CDF-F8D373786764}"/>
              </a:ext>
            </a:extLst>
          </p:cNvPr>
          <p:cNvPicPr>
            <a:picLocks noChangeAspect="1"/>
          </p:cNvPicPr>
          <p:nvPr/>
        </p:nvPicPr>
        <p:blipFill>
          <a:blip r:embed="rId3"/>
          <a:stretch>
            <a:fillRect/>
          </a:stretch>
        </p:blipFill>
        <p:spPr>
          <a:xfrm>
            <a:off x="10787743" y="299867"/>
            <a:ext cx="1023356" cy="1681033"/>
          </a:xfrm>
          <a:prstGeom prst="rect">
            <a:avLst/>
          </a:prstGeom>
        </p:spPr>
      </p:pic>
      <p:sp>
        <p:nvSpPr>
          <p:cNvPr id="5" name="TextBox 4">
            <a:extLst>
              <a:ext uri="{FF2B5EF4-FFF2-40B4-BE49-F238E27FC236}">
                <a16:creationId xmlns:a16="http://schemas.microsoft.com/office/drawing/2014/main" id="{8E3FDAEF-B26F-03D8-2E71-E30529D128DE}"/>
              </a:ext>
            </a:extLst>
          </p:cNvPr>
          <p:cNvSpPr txBox="1"/>
          <p:nvPr/>
        </p:nvSpPr>
        <p:spPr>
          <a:xfrm>
            <a:off x="336884" y="2277979"/>
            <a:ext cx="9142316" cy="4401205"/>
          </a:xfrm>
          <a:prstGeom prst="rect">
            <a:avLst/>
          </a:prstGeom>
          <a:noFill/>
        </p:spPr>
        <p:txBody>
          <a:bodyPr wrap="square" rtlCol="0">
            <a:spAutoFit/>
          </a:bodyPr>
          <a:lstStyle/>
          <a:p>
            <a:pPr algn="just"/>
            <a:r>
              <a:rPr lang="en-US" sz="2800" b="1" dirty="0"/>
              <a:t>Donor</a:t>
            </a:r>
          </a:p>
          <a:p>
            <a:pPr marL="457200" indent="-457200" algn="just">
              <a:buFont typeface="Arial" panose="020B0604020202020204" pitchFamily="34" charset="0"/>
              <a:buChar char="•"/>
            </a:pPr>
            <a:r>
              <a:rPr lang="en-US" sz="2800" dirty="0"/>
              <a:t>Register/Login, manage profile</a:t>
            </a:r>
          </a:p>
          <a:p>
            <a:pPr marL="457200" indent="-457200" algn="just">
              <a:buFont typeface="Arial" panose="020B0604020202020204" pitchFamily="34" charset="0"/>
              <a:buChar char="•"/>
            </a:pPr>
            <a:r>
              <a:rPr lang="en-US" sz="2800" dirty="0"/>
              <a:t>Post donation (category, description, quantity, pickup/drop)</a:t>
            </a:r>
          </a:p>
          <a:p>
            <a:pPr marL="457200" indent="-457200" algn="just">
              <a:buFont typeface="Arial" panose="020B0604020202020204" pitchFamily="34" charset="0"/>
              <a:buChar char="•"/>
            </a:pPr>
            <a:r>
              <a:rPr lang="en-US" sz="2800" dirty="0"/>
              <a:t>Food expiry condition (within 3 hours)</a:t>
            </a:r>
          </a:p>
          <a:p>
            <a:pPr marL="457200" indent="-457200" algn="just">
              <a:buFont typeface="Arial" panose="020B0604020202020204" pitchFamily="34" charset="0"/>
              <a:buChar char="•"/>
            </a:pPr>
            <a:r>
              <a:rPr lang="en-US" sz="2800" dirty="0"/>
              <a:t>Find nearby NGOs via Google Maps</a:t>
            </a:r>
          </a:p>
          <a:p>
            <a:pPr marL="457200" indent="-457200" algn="just">
              <a:buFont typeface="Arial" panose="020B0604020202020204" pitchFamily="34" charset="0"/>
              <a:buChar char="•"/>
            </a:pPr>
            <a:r>
              <a:rPr lang="en-US" sz="2800" dirty="0"/>
              <a:t>Track donation status</a:t>
            </a:r>
          </a:p>
          <a:p>
            <a:pPr marL="457200" indent="-457200" algn="just">
              <a:buFont typeface="Arial" panose="020B0604020202020204" pitchFamily="34" charset="0"/>
              <a:buChar char="•"/>
            </a:pPr>
            <a:r>
              <a:rPr lang="en-US" sz="2800" dirty="0"/>
              <a:t>Payment Gateway, for financial help</a:t>
            </a:r>
          </a:p>
          <a:p>
            <a:pPr marL="457200" indent="-457200" algn="just">
              <a:buFont typeface="Arial" panose="020B0604020202020204" pitchFamily="34" charset="0"/>
              <a:buChar char="•"/>
            </a:pPr>
            <a:r>
              <a:rPr lang="en-US" sz="2800" dirty="0"/>
              <a:t>Chat with NGOs, receive notifications</a:t>
            </a:r>
          </a:p>
          <a:p>
            <a:pPr marL="457200" indent="-457200" algn="just">
              <a:buFont typeface="Arial" panose="020B0604020202020204" pitchFamily="34" charset="0"/>
              <a:buChar char="•"/>
            </a:pPr>
            <a:r>
              <a:rPr lang="en-US" sz="2800" dirty="0"/>
              <a:t>View donation history</a:t>
            </a:r>
          </a:p>
        </p:txBody>
      </p:sp>
    </p:spTree>
    <p:extLst>
      <p:ext uri="{BB962C8B-B14F-4D97-AF65-F5344CB8AC3E}">
        <p14:creationId xmlns:p14="http://schemas.microsoft.com/office/powerpoint/2010/main" val="317709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048612" name="Google Shape;144;p26"/>
          <p:cNvSpPr txBox="1">
            <a:spLocks noGrp="1"/>
          </p:cNvSpPr>
          <p:nvPr>
            <p:ph type="body" idx="1"/>
          </p:nvPr>
        </p:nvSpPr>
        <p:spPr>
          <a:xfrm>
            <a:off x="182905" y="1415733"/>
            <a:ext cx="9296295" cy="5142400"/>
          </a:xfrm>
          <a:prstGeom prst="rect">
            <a:avLst/>
          </a:prstGeom>
          <a:noFill/>
          <a:ln>
            <a:noFill/>
          </a:ln>
        </p:spPr>
        <p:txBody>
          <a:bodyPr spcFirstLastPara="1" vert="horz" wrap="square" lIns="91433" tIns="45700" rIns="91433" bIns="45700" rtlCol="0" anchor="t" anchorCtr="0">
            <a:normAutofit/>
          </a:bodyPr>
          <a:lstStyle/>
          <a:p>
            <a:pPr marL="0" indent="0">
              <a:buNone/>
            </a:pPr>
            <a:r>
              <a:rPr lang="en-IN" b="1" dirty="0"/>
              <a:t>Functionalities</a:t>
            </a:r>
            <a:r>
              <a:rPr lang="en-IN" dirty="0"/>
              <a:t> </a:t>
            </a:r>
            <a:endParaRPr lang="en-US" sz="2133" dirty="0">
              <a:solidFill>
                <a:srgbClr val="C00000"/>
              </a:solidFill>
              <a:latin typeface="Arial"/>
              <a:ea typeface="Arial"/>
              <a:cs typeface="Arial"/>
              <a:sym typeface="Arial"/>
            </a:endParaRPr>
          </a:p>
        </p:txBody>
      </p:sp>
      <p:cxnSp>
        <p:nvCxnSpPr>
          <p:cNvPr id="3145733" name="Google Shape;145;p26"/>
          <p:cNvCxnSpPr>
            <a:cxnSpLocks/>
          </p:cNvCxnSpPr>
          <p:nvPr/>
        </p:nvCxnSpPr>
        <p:spPr>
          <a:xfrm>
            <a:off x="0" y="1049844"/>
            <a:ext cx="9479200" cy="0"/>
          </a:xfrm>
          <a:prstGeom prst="straightConnector1">
            <a:avLst/>
          </a:prstGeom>
          <a:noFill/>
          <a:ln w="38100" cap="flat" cmpd="sng">
            <a:solidFill>
              <a:srgbClr val="DFA267"/>
            </a:solidFill>
            <a:prstDash val="solid"/>
            <a:miter lim="800000"/>
            <a:headEnd type="none" w="sm" len="sm"/>
            <a:tailEnd type="none" w="sm" len="sm"/>
          </a:ln>
        </p:spPr>
      </p:cxnSp>
      <p:sp>
        <p:nvSpPr>
          <p:cNvPr id="1048613" name="Google Shape;146;p26"/>
          <p:cNvSpPr/>
          <p:nvPr/>
        </p:nvSpPr>
        <p:spPr>
          <a:xfrm>
            <a:off x="182905" y="299867"/>
            <a:ext cx="7497200" cy="492400"/>
          </a:xfrm>
          <a:prstGeom prst="rect">
            <a:avLst/>
          </a:prstGeom>
          <a:noFill/>
          <a:ln>
            <a:noFill/>
          </a:ln>
        </p:spPr>
        <p:txBody>
          <a:bodyPr spcFirstLastPara="1" wrap="square" lIns="91433" tIns="45700" rIns="91433" bIns="45700" anchor="t" anchorCtr="0">
            <a:noAutofit/>
          </a:bodyPr>
          <a:lstStyle/>
          <a:p>
            <a:pPr>
              <a:buClr>
                <a:srgbClr val="000000"/>
              </a:buClr>
              <a:buSzPts val="2300"/>
            </a:pPr>
            <a:r>
              <a:rPr lang="en" sz="3600" b="1" dirty="0">
                <a:solidFill>
                  <a:srgbClr val="2F5496"/>
                </a:solidFill>
                <a:latin typeface="Calibri"/>
                <a:ea typeface="Calibri"/>
                <a:cs typeface="Calibri"/>
                <a:sym typeface="Calibri"/>
              </a:rPr>
              <a:t>Title of the project </a:t>
            </a:r>
            <a:endParaRPr sz="1867" dirty="0">
              <a:solidFill>
                <a:srgbClr val="000000"/>
              </a:solidFill>
              <a:latin typeface="Arial"/>
              <a:ea typeface="Arial"/>
              <a:cs typeface="Arial"/>
              <a:sym typeface="Arial"/>
            </a:endParaRPr>
          </a:p>
        </p:txBody>
      </p:sp>
      <p:pic>
        <p:nvPicPr>
          <p:cNvPr id="2097157" name="Picture 1"/>
          <p:cNvPicPr>
            <a:picLocks noChangeAspect="1"/>
          </p:cNvPicPr>
          <p:nvPr/>
        </p:nvPicPr>
        <p:blipFill>
          <a:blip r:embed="rId3"/>
          <a:stretch>
            <a:fillRect/>
          </a:stretch>
        </p:blipFill>
        <p:spPr>
          <a:xfrm>
            <a:off x="10787743" y="299867"/>
            <a:ext cx="1023356" cy="1681033"/>
          </a:xfrm>
          <a:prstGeom prst="rect">
            <a:avLst/>
          </a:prstGeom>
        </p:spPr>
      </p:pic>
      <p:sp>
        <p:nvSpPr>
          <p:cNvPr id="5" name="TextBox 4">
            <a:extLst>
              <a:ext uri="{FF2B5EF4-FFF2-40B4-BE49-F238E27FC236}">
                <a16:creationId xmlns:a16="http://schemas.microsoft.com/office/drawing/2014/main" id="{E15AAB8F-AFDE-3C6C-1AED-A17B9CDFD7C2}"/>
              </a:ext>
            </a:extLst>
          </p:cNvPr>
          <p:cNvSpPr txBox="1"/>
          <p:nvPr/>
        </p:nvSpPr>
        <p:spPr>
          <a:xfrm>
            <a:off x="336884" y="2277979"/>
            <a:ext cx="9142316" cy="3970318"/>
          </a:xfrm>
          <a:prstGeom prst="rect">
            <a:avLst/>
          </a:prstGeom>
          <a:noFill/>
        </p:spPr>
        <p:txBody>
          <a:bodyPr wrap="square" rtlCol="0">
            <a:spAutoFit/>
          </a:bodyPr>
          <a:lstStyle/>
          <a:p>
            <a:pPr algn="just"/>
            <a:r>
              <a:rPr lang="en-US" sz="2800" b="1" dirty="0"/>
              <a:t>NGO</a:t>
            </a:r>
          </a:p>
          <a:p>
            <a:pPr marL="457200" indent="-457200" algn="just">
              <a:buFont typeface="Arial" panose="020B0604020202020204" pitchFamily="34" charset="0"/>
              <a:buChar char="•"/>
            </a:pPr>
            <a:r>
              <a:rPr lang="en-US" sz="2800" dirty="0"/>
              <a:t>Register/Login, upload certifications</a:t>
            </a:r>
          </a:p>
          <a:p>
            <a:pPr marL="457200" indent="-457200" algn="just">
              <a:buFont typeface="Arial" panose="020B0604020202020204" pitchFamily="34" charset="0"/>
              <a:buChar char="•"/>
            </a:pPr>
            <a:r>
              <a:rPr lang="en-US" sz="2800" dirty="0"/>
              <a:t>Get verified by Admin/BBMP</a:t>
            </a:r>
          </a:p>
          <a:p>
            <a:pPr marL="457200" indent="-457200" algn="just">
              <a:buFont typeface="Arial" panose="020B0604020202020204" pitchFamily="34" charset="0"/>
              <a:buChar char="•"/>
            </a:pPr>
            <a:r>
              <a:rPr lang="en-US" sz="2800" dirty="0"/>
              <a:t>Accept/Reject donations</a:t>
            </a:r>
          </a:p>
          <a:p>
            <a:pPr marL="457200" indent="-457200" algn="just">
              <a:buFont typeface="Arial" panose="020B0604020202020204" pitchFamily="34" charset="0"/>
              <a:buChar char="•"/>
            </a:pPr>
            <a:r>
              <a:rPr lang="en-US" sz="2800" dirty="0"/>
              <a:t>Manage pickups (if service available)</a:t>
            </a:r>
          </a:p>
          <a:p>
            <a:pPr marL="457200" indent="-457200" algn="just">
              <a:buFont typeface="Arial" panose="020B0604020202020204" pitchFamily="34" charset="0"/>
              <a:buChar char="•"/>
            </a:pPr>
            <a:r>
              <a:rPr lang="en-US" sz="2800" dirty="0"/>
              <a:t>Update donation status (collected/completed)</a:t>
            </a:r>
          </a:p>
          <a:p>
            <a:pPr marL="457200" indent="-457200" algn="just">
              <a:buFont typeface="Arial" panose="020B0604020202020204" pitchFamily="34" charset="0"/>
              <a:buChar char="•"/>
            </a:pPr>
            <a:r>
              <a:rPr lang="en-US" sz="2800" dirty="0"/>
              <a:t>Chat with donors</a:t>
            </a:r>
          </a:p>
          <a:p>
            <a:pPr marL="457200" indent="-457200" algn="just">
              <a:buFont typeface="Arial" panose="020B0604020202020204" pitchFamily="34" charset="0"/>
              <a:buChar char="•"/>
            </a:pPr>
            <a:r>
              <a:rPr lang="en-US" sz="2800" dirty="0"/>
              <a:t>View donation reports/history</a:t>
            </a:r>
          </a:p>
          <a:p>
            <a:pPr marL="457200" indent="-457200" algn="just">
              <a:buFont typeface="Arial" panose="020B0604020202020204" pitchFamily="34" charset="0"/>
              <a:buChar char="•"/>
            </a:pPr>
            <a:endParaRPr lang="en-US" sz="28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A0562267-B563-0A95-7E01-F78BEA244529}"/>
            </a:ext>
          </a:extLst>
        </p:cNvPr>
        <p:cNvGrpSpPr/>
        <p:nvPr/>
      </p:nvGrpSpPr>
      <p:grpSpPr>
        <a:xfrm>
          <a:off x="0" y="0"/>
          <a:ext cx="0" cy="0"/>
          <a:chOff x="0" y="0"/>
          <a:chExt cx="0" cy="0"/>
        </a:xfrm>
      </p:grpSpPr>
      <p:sp>
        <p:nvSpPr>
          <p:cNvPr id="1048612" name="Google Shape;144;p26">
            <a:extLst>
              <a:ext uri="{FF2B5EF4-FFF2-40B4-BE49-F238E27FC236}">
                <a16:creationId xmlns:a16="http://schemas.microsoft.com/office/drawing/2014/main" id="{4B8B5F72-9D09-1768-FE48-08C170998395}"/>
              </a:ext>
            </a:extLst>
          </p:cNvPr>
          <p:cNvSpPr txBox="1">
            <a:spLocks noGrp="1"/>
          </p:cNvSpPr>
          <p:nvPr>
            <p:ph type="body" idx="1"/>
          </p:nvPr>
        </p:nvSpPr>
        <p:spPr>
          <a:xfrm>
            <a:off x="182905" y="1415733"/>
            <a:ext cx="9296295" cy="5142400"/>
          </a:xfrm>
          <a:prstGeom prst="rect">
            <a:avLst/>
          </a:prstGeom>
          <a:noFill/>
          <a:ln>
            <a:noFill/>
          </a:ln>
        </p:spPr>
        <p:txBody>
          <a:bodyPr spcFirstLastPara="1" vert="horz" wrap="square" lIns="91433" tIns="45700" rIns="91433" bIns="45700" rtlCol="0" anchor="t" anchorCtr="0">
            <a:normAutofit/>
          </a:bodyPr>
          <a:lstStyle/>
          <a:p>
            <a:pPr marL="0" indent="0">
              <a:buNone/>
            </a:pPr>
            <a:r>
              <a:rPr lang="en-IN" b="1" dirty="0"/>
              <a:t>Functionalities</a:t>
            </a:r>
            <a:endParaRPr lang="en-US" sz="2133" dirty="0">
              <a:solidFill>
                <a:srgbClr val="C00000"/>
              </a:solidFill>
              <a:latin typeface="Arial"/>
              <a:ea typeface="Arial"/>
              <a:cs typeface="Arial"/>
              <a:sym typeface="Arial"/>
            </a:endParaRPr>
          </a:p>
        </p:txBody>
      </p:sp>
      <p:cxnSp>
        <p:nvCxnSpPr>
          <p:cNvPr id="3145733" name="Google Shape;145;p26">
            <a:extLst>
              <a:ext uri="{FF2B5EF4-FFF2-40B4-BE49-F238E27FC236}">
                <a16:creationId xmlns:a16="http://schemas.microsoft.com/office/drawing/2014/main" id="{E0EE2DA6-5D41-D3BE-A2D1-1B55FDFDBED9}"/>
              </a:ext>
            </a:extLst>
          </p:cNvPr>
          <p:cNvCxnSpPr>
            <a:cxnSpLocks/>
          </p:cNvCxnSpPr>
          <p:nvPr/>
        </p:nvCxnSpPr>
        <p:spPr>
          <a:xfrm>
            <a:off x="0" y="1049844"/>
            <a:ext cx="9479200" cy="0"/>
          </a:xfrm>
          <a:prstGeom prst="straightConnector1">
            <a:avLst/>
          </a:prstGeom>
          <a:noFill/>
          <a:ln w="38100" cap="flat" cmpd="sng">
            <a:solidFill>
              <a:srgbClr val="DFA267"/>
            </a:solidFill>
            <a:prstDash val="solid"/>
            <a:miter lim="800000"/>
            <a:headEnd type="none" w="sm" len="sm"/>
            <a:tailEnd type="none" w="sm" len="sm"/>
          </a:ln>
        </p:spPr>
      </p:cxnSp>
      <p:sp>
        <p:nvSpPr>
          <p:cNvPr id="1048613" name="Google Shape;146;p26">
            <a:extLst>
              <a:ext uri="{FF2B5EF4-FFF2-40B4-BE49-F238E27FC236}">
                <a16:creationId xmlns:a16="http://schemas.microsoft.com/office/drawing/2014/main" id="{0D693D64-7B1D-C7F8-0218-C4D968FC23C1}"/>
              </a:ext>
            </a:extLst>
          </p:cNvPr>
          <p:cNvSpPr/>
          <p:nvPr/>
        </p:nvSpPr>
        <p:spPr>
          <a:xfrm>
            <a:off x="182905" y="299867"/>
            <a:ext cx="7497200" cy="492400"/>
          </a:xfrm>
          <a:prstGeom prst="rect">
            <a:avLst/>
          </a:prstGeom>
          <a:noFill/>
          <a:ln>
            <a:noFill/>
          </a:ln>
        </p:spPr>
        <p:txBody>
          <a:bodyPr spcFirstLastPara="1" wrap="square" lIns="91433" tIns="45700" rIns="91433" bIns="45700" anchor="t" anchorCtr="0">
            <a:noAutofit/>
          </a:bodyPr>
          <a:lstStyle/>
          <a:p>
            <a:pPr>
              <a:buClr>
                <a:srgbClr val="000000"/>
              </a:buClr>
              <a:buSzPts val="2300"/>
            </a:pPr>
            <a:r>
              <a:rPr lang="en" sz="3600" b="1" dirty="0">
                <a:solidFill>
                  <a:srgbClr val="2F5496"/>
                </a:solidFill>
                <a:latin typeface="Calibri"/>
                <a:ea typeface="Calibri"/>
                <a:cs typeface="Calibri"/>
                <a:sym typeface="Calibri"/>
              </a:rPr>
              <a:t>Title of the project </a:t>
            </a:r>
            <a:endParaRPr sz="1867" dirty="0">
              <a:solidFill>
                <a:srgbClr val="000000"/>
              </a:solidFill>
              <a:latin typeface="Arial"/>
              <a:ea typeface="Arial"/>
              <a:cs typeface="Arial"/>
              <a:sym typeface="Arial"/>
            </a:endParaRPr>
          </a:p>
        </p:txBody>
      </p:sp>
      <p:pic>
        <p:nvPicPr>
          <p:cNvPr id="2097157" name="Picture 1">
            <a:extLst>
              <a:ext uri="{FF2B5EF4-FFF2-40B4-BE49-F238E27FC236}">
                <a16:creationId xmlns:a16="http://schemas.microsoft.com/office/drawing/2014/main" id="{262AE6C0-F5CA-0F04-B06A-AA086F14BA33}"/>
              </a:ext>
            </a:extLst>
          </p:cNvPr>
          <p:cNvPicPr>
            <a:picLocks noChangeAspect="1"/>
          </p:cNvPicPr>
          <p:nvPr/>
        </p:nvPicPr>
        <p:blipFill>
          <a:blip r:embed="rId3"/>
          <a:stretch>
            <a:fillRect/>
          </a:stretch>
        </p:blipFill>
        <p:spPr>
          <a:xfrm>
            <a:off x="10787743" y="299867"/>
            <a:ext cx="1023356" cy="1681033"/>
          </a:xfrm>
          <a:prstGeom prst="rect">
            <a:avLst/>
          </a:prstGeom>
        </p:spPr>
      </p:pic>
      <p:sp>
        <p:nvSpPr>
          <p:cNvPr id="5" name="TextBox 4">
            <a:extLst>
              <a:ext uri="{FF2B5EF4-FFF2-40B4-BE49-F238E27FC236}">
                <a16:creationId xmlns:a16="http://schemas.microsoft.com/office/drawing/2014/main" id="{EF9A9B0B-F3AD-AD90-0F0A-0F9B82ECFB8F}"/>
              </a:ext>
            </a:extLst>
          </p:cNvPr>
          <p:cNvSpPr txBox="1"/>
          <p:nvPr/>
        </p:nvSpPr>
        <p:spPr>
          <a:xfrm>
            <a:off x="336884" y="2277979"/>
            <a:ext cx="9142316" cy="2677656"/>
          </a:xfrm>
          <a:prstGeom prst="rect">
            <a:avLst/>
          </a:prstGeom>
          <a:noFill/>
        </p:spPr>
        <p:txBody>
          <a:bodyPr wrap="square" rtlCol="0">
            <a:spAutoFit/>
          </a:bodyPr>
          <a:lstStyle/>
          <a:p>
            <a:pPr algn="just"/>
            <a:r>
              <a:rPr lang="en-US" sz="2800" b="1" dirty="0"/>
              <a:t>Admin / BBMP</a:t>
            </a:r>
          </a:p>
          <a:p>
            <a:pPr marL="457200" indent="-457200" algn="just">
              <a:buFont typeface="Arial" panose="020B0604020202020204" pitchFamily="34" charset="0"/>
              <a:buChar char="•"/>
            </a:pPr>
            <a:r>
              <a:rPr lang="en-US" sz="2800" dirty="0"/>
              <a:t>Verify NGO documents &amp; authenticity</a:t>
            </a:r>
          </a:p>
          <a:p>
            <a:pPr marL="457200" indent="-457200" algn="just">
              <a:buFont typeface="Arial" panose="020B0604020202020204" pitchFamily="34" charset="0"/>
              <a:buChar char="•"/>
            </a:pPr>
            <a:r>
              <a:rPr lang="en-US" sz="2800" dirty="0"/>
              <a:t>Approve/Reject NGOs, manage badges</a:t>
            </a:r>
          </a:p>
          <a:p>
            <a:pPr marL="457200" indent="-457200" algn="just">
              <a:buFont typeface="Arial" panose="020B0604020202020204" pitchFamily="34" charset="0"/>
              <a:buChar char="•"/>
            </a:pPr>
            <a:r>
              <a:rPr lang="en-US" sz="2800" dirty="0"/>
              <a:t>Monitor suspicious activity &amp; disputes</a:t>
            </a:r>
          </a:p>
          <a:p>
            <a:pPr marL="457200" indent="-457200" algn="just">
              <a:buFont typeface="Arial" panose="020B0604020202020204" pitchFamily="34" charset="0"/>
              <a:buChar char="•"/>
            </a:pPr>
            <a:r>
              <a:rPr lang="en-US" sz="2800" dirty="0"/>
              <a:t>Suspend/ban users if misuse detected</a:t>
            </a:r>
          </a:p>
          <a:p>
            <a:pPr marL="457200" indent="-457200" algn="just">
              <a:buFont typeface="Arial" panose="020B0604020202020204" pitchFamily="34" charset="0"/>
              <a:buChar char="•"/>
            </a:pPr>
            <a:r>
              <a:rPr lang="en-US" sz="2800" dirty="0"/>
              <a:t>Generate reports &amp; analytics</a:t>
            </a:r>
          </a:p>
        </p:txBody>
      </p:sp>
    </p:spTree>
    <p:extLst>
      <p:ext uri="{BB962C8B-B14F-4D97-AF65-F5344CB8AC3E}">
        <p14:creationId xmlns:p14="http://schemas.microsoft.com/office/powerpoint/2010/main" val="2931528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048620" name="Google Shape;144;p26"/>
          <p:cNvSpPr txBox="1">
            <a:spLocks noGrp="1"/>
          </p:cNvSpPr>
          <p:nvPr>
            <p:ph type="body" idx="1"/>
          </p:nvPr>
        </p:nvSpPr>
        <p:spPr>
          <a:xfrm>
            <a:off x="182905" y="1415733"/>
            <a:ext cx="9296295" cy="5142400"/>
          </a:xfrm>
          <a:prstGeom prst="rect">
            <a:avLst/>
          </a:prstGeom>
          <a:noFill/>
          <a:ln>
            <a:noFill/>
          </a:ln>
        </p:spPr>
        <p:txBody>
          <a:bodyPr spcFirstLastPara="1" vert="horz" wrap="square" lIns="91433" tIns="45700" rIns="91433" bIns="45700" rtlCol="0" anchor="t" anchorCtr="0">
            <a:normAutofit/>
          </a:bodyPr>
          <a:lstStyle/>
          <a:p>
            <a:pPr marL="0" indent="0">
              <a:buNone/>
            </a:pPr>
            <a:r>
              <a:rPr lang="en-IN" dirty="0">
                <a:solidFill>
                  <a:srgbClr val="C00000"/>
                </a:solidFill>
              </a:rPr>
              <a:t>Tools and Technologies</a:t>
            </a:r>
          </a:p>
        </p:txBody>
      </p:sp>
      <p:cxnSp>
        <p:nvCxnSpPr>
          <p:cNvPr id="3145735" name="Google Shape;145;p26"/>
          <p:cNvCxnSpPr>
            <a:cxnSpLocks/>
          </p:cNvCxnSpPr>
          <p:nvPr/>
        </p:nvCxnSpPr>
        <p:spPr>
          <a:xfrm>
            <a:off x="0" y="1049844"/>
            <a:ext cx="9479200" cy="0"/>
          </a:xfrm>
          <a:prstGeom prst="straightConnector1">
            <a:avLst/>
          </a:prstGeom>
          <a:noFill/>
          <a:ln w="38100" cap="flat" cmpd="sng">
            <a:solidFill>
              <a:srgbClr val="DFA267"/>
            </a:solidFill>
            <a:prstDash val="solid"/>
            <a:miter lim="800000"/>
            <a:headEnd type="none" w="sm" len="sm"/>
            <a:tailEnd type="none" w="sm" len="sm"/>
          </a:ln>
        </p:spPr>
      </p:cxnSp>
      <p:sp>
        <p:nvSpPr>
          <p:cNvPr id="1048621" name="Google Shape;146;p26"/>
          <p:cNvSpPr/>
          <p:nvPr/>
        </p:nvSpPr>
        <p:spPr>
          <a:xfrm>
            <a:off x="182905" y="299867"/>
            <a:ext cx="7497200" cy="492400"/>
          </a:xfrm>
          <a:prstGeom prst="rect">
            <a:avLst/>
          </a:prstGeom>
          <a:noFill/>
          <a:ln>
            <a:noFill/>
          </a:ln>
        </p:spPr>
        <p:txBody>
          <a:bodyPr spcFirstLastPara="1" wrap="square" lIns="91433" tIns="45700" rIns="91433" bIns="45700" anchor="t" anchorCtr="0">
            <a:noAutofit/>
          </a:bodyPr>
          <a:lstStyle/>
          <a:p>
            <a:pPr>
              <a:buClr>
                <a:srgbClr val="000000"/>
              </a:buClr>
              <a:buSzPts val="2300"/>
            </a:pPr>
            <a:r>
              <a:rPr lang="en" sz="3600" b="1" dirty="0">
                <a:solidFill>
                  <a:srgbClr val="2F5496"/>
                </a:solidFill>
                <a:latin typeface="Calibri"/>
                <a:ea typeface="Calibri"/>
                <a:cs typeface="Calibri"/>
                <a:sym typeface="Calibri"/>
              </a:rPr>
              <a:t>Title of the project </a:t>
            </a:r>
            <a:endParaRPr sz="1867" dirty="0">
              <a:solidFill>
                <a:srgbClr val="000000"/>
              </a:solidFill>
              <a:latin typeface="Arial"/>
              <a:ea typeface="Arial"/>
              <a:cs typeface="Arial"/>
              <a:sym typeface="Arial"/>
            </a:endParaRPr>
          </a:p>
        </p:txBody>
      </p:sp>
      <p:pic>
        <p:nvPicPr>
          <p:cNvPr id="2097159" name="Picture 1"/>
          <p:cNvPicPr>
            <a:picLocks noChangeAspect="1"/>
          </p:cNvPicPr>
          <p:nvPr/>
        </p:nvPicPr>
        <p:blipFill>
          <a:blip r:embed="rId3"/>
          <a:stretch>
            <a:fillRect/>
          </a:stretch>
        </p:blipFill>
        <p:spPr>
          <a:xfrm>
            <a:off x="10787743" y="299867"/>
            <a:ext cx="1023356" cy="1681033"/>
          </a:xfrm>
          <a:prstGeom prst="rect">
            <a:avLst/>
          </a:prstGeom>
        </p:spPr>
      </p:pic>
      <p:sp>
        <p:nvSpPr>
          <p:cNvPr id="2" name="TextBox 1">
            <a:extLst>
              <a:ext uri="{FF2B5EF4-FFF2-40B4-BE49-F238E27FC236}">
                <a16:creationId xmlns:a16="http://schemas.microsoft.com/office/drawing/2014/main" id="{B7587F80-F9F1-A333-DD03-F7A58F83004D}"/>
              </a:ext>
            </a:extLst>
          </p:cNvPr>
          <p:cNvSpPr txBox="1"/>
          <p:nvPr/>
        </p:nvSpPr>
        <p:spPr>
          <a:xfrm>
            <a:off x="182906" y="2855495"/>
            <a:ext cx="2977390" cy="3416968"/>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E7DB1EA8-7120-4DB4-B44A-7BF5D89885FA}"/>
              </a:ext>
            </a:extLst>
          </p:cNvPr>
          <p:cNvSpPr txBox="1"/>
          <p:nvPr/>
        </p:nvSpPr>
        <p:spPr>
          <a:xfrm>
            <a:off x="215074" y="2391188"/>
            <a:ext cx="2977390" cy="3416968"/>
          </a:xfrm>
          <a:prstGeom prst="rect">
            <a:avLst/>
          </a:prstGeom>
          <a:noFill/>
        </p:spPr>
        <p:txBody>
          <a:bodyPr wrap="square" rtlCol="0">
            <a:spAutoFit/>
          </a:bodyPr>
          <a:lstStyle/>
          <a:p>
            <a:endParaRPr lang="en-US" dirty="0"/>
          </a:p>
        </p:txBody>
      </p:sp>
      <p:graphicFrame>
        <p:nvGraphicFramePr>
          <p:cNvPr id="7" name="Object 6">
            <a:extLst>
              <a:ext uri="{FF2B5EF4-FFF2-40B4-BE49-F238E27FC236}">
                <a16:creationId xmlns:a16="http://schemas.microsoft.com/office/drawing/2014/main" id="{23B984AA-472D-81F4-57D9-CAC8BB8E48B2}"/>
              </a:ext>
            </a:extLst>
          </p:cNvPr>
          <p:cNvGraphicFramePr>
            <a:graphicFrameLocks noChangeAspect="1"/>
          </p:cNvGraphicFramePr>
          <p:nvPr>
            <p:extLst>
              <p:ext uri="{D42A27DB-BD31-4B8C-83A1-F6EECF244321}">
                <p14:modId xmlns:p14="http://schemas.microsoft.com/office/powerpoint/2010/main" val="614787136"/>
              </p:ext>
            </p:extLst>
          </p:nvPr>
        </p:nvGraphicFramePr>
        <p:xfrm>
          <a:off x="5481638" y="3241675"/>
          <a:ext cx="1227137" cy="373063"/>
        </p:xfrm>
        <a:graphic>
          <a:graphicData uri="http://schemas.openxmlformats.org/presentationml/2006/ole">
            <mc:AlternateContent xmlns:mc="http://schemas.openxmlformats.org/markup-compatibility/2006">
              <mc:Choice xmlns:v="urn:schemas-microsoft-com:vml" Requires="v">
                <p:oleObj name="Worksheet" r:id="rId4" imgW="1226997" imgH="373530" progId="Excel.Sheet.12">
                  <p:embed/>
                </p:oleObj>
              </mc:Choice>
              <mc:Fallback>
                <p:oleObj name="Worksheet" r:id="rId4" imgW="1226997" imgH="373530" progId="Excel.Sheet.12">
                  <p:embed/>
                  <p:pic>
                    <p:nvPicPr>
                      <p:cNvPr id="0" name=""/>
                      <p:cNvPicPr/>
                      <p:nvPr/>
                    </p:nvPicPr>
                    <p:blipFill>
                      <a:blip r:embed="rId5"/>
                      <a:stretch>
                        <a:fillRect/>
                      </a:stretch>
                    </p:blipFill>
                    <p:spPr>
                      <a:xfrm>
                        <a:off x="5481638" y="3241675"/>
                        <a:ext cx="1227137" cy="373063"/>
                      </a:xfrm>
                      <a:prstGeom prst="rect">
                        <a:avLst/>
                      </a:prstGeom>
                    </p:spPr>
                  </p:pic>
                </p:oleObj>
              </mc:Fallback>
            </mc:AlternateContent>
          </a:graphicData>
        </a:graphic>
      </p:graphicFrame>
      <p:graphicFrame>
        <p:nvGraphicFramePr>
          <p:cNvPr id="8" name="Table 7">
            <a:extLst>
              <a:ext uri="{FF2B5EF4-FFF2-40B4-BE49-F238E27FC236}">
                <a16:creationId xmlns:a16="http://schemas.microsoft.com/office/drawing/2014/main" id="{50F7DA8B-A431-FBE7-9E25-A9967664D113}"/>
              </a:ext>
            </a:extLst>
          </p:cNvPr>
          <p:cNvGraphicFramePr>
            <a:graphicFrameLocks noGrp="1"/>
          </p:cNvGraphicFramePr>
          <p:nvPr>
            <p:extLst>
              <p:ext uri="{D42A27DB-BD31-4B8C-83A1-F6EECF244321}">
                <p14:modId xmlns:p14="http://schemas.microsoft.com/office/powerpoint/2010/main" val="280324962"/>
              </p:ext>
            </p:extLst>
          </p:nvPr>
        </p:nvGraphicFramePr>
        <p:xfrm>
          <a:off x="215073" y="2476271"/>
          <a:ext cx="6827830" cy="3474720"/>
        </p:xfrm>
        <a:graphic>
          <a:graphicData uri="http://schemas.openxmlformats.org/drawingml/2006/table">
            <a:tbl>
              <a:tblPr firstRow="1" bandRow="1">
                <a:tableStyleId>{5C22544A-7EE6-4342-B048-85BDC9FD1C3A}</a:tableStyleId>
              </a:tblPr>
              <a:tblGrid>
                <a:gridCol w="3413915">
                  <a:extLst>
                    <a:ext uri="{9D8B030D-6E8A-4147-A177-3AD203B41FA5}">
                      <a16:colId xmlns:a16="http://schemas.microsoft.com/office/drawing/2014/main" val="3795972693"/>
                    </a:ext>
                  </a:extLst>
                </a:gridCol>
                <a:gridCol w="3413915">
                  <a:extLst>
                    <a:ext uri="{9D8B030D-6E8A-4147-A177-3AD203B41FA5}">
                      <a16:colId xmlns:a16="http://schemas.microsoft.com/office/drawing/2014/main" val="2557719399"/>
                    </a:ext>
                  </a:extLst>
                </a:gridCol>
              </a:tblGrid>
              <a:tr h="306379">
                <a:tc>
                  <a:txBody>
                    <a:bodyPr/>
                    <a:lstStyle/>
                    <a:p>
                      <a:r>
                        <a:rPr lang="en-US" dirty="0"/>
                        <a:t>Tools and Technologies</a:t>
                      </a:r>
                    </a:p>
                  </a:txBody>
                  <a:tcPr/>
                </a:tc>
                <a:tc>
                  <a:txBody>
                    <a:bodyPr/>
                    <a:lstStyle/>
                    <a:p>
                      <a:endParaRPr lang="en-US" dirty="0"/>
                    </a:p>
                  </a:txBody>
                  <a:tcPr/>
                </a:tc>
                <a:extLst>
                  <a:ext uri="{0D108BD9-81ED-4DB2-BD59-A6C34878D82A}">
                    <a16:rowId xmlns:a16="http://schemas.microsoft.com/office/drawing/2014/main" val="4107291892"/>
                  </a:ext>
                </a:extLst>
              </a:tr>
              <a:tr h="306379">
                <a:tc>
                  <a:txBody>
                    <a:bodyPr/>
                    <a:lstStyle/>
                    <a:p>
                      <a:r>
                        <a:rPr lang="en-US" dirty="0"/>
                        <a:t>Frontend </a:t>
                      </a:r>
                    </a:p>
                  </a:txBody>
                  <a:tcPr/>
                </a:tc>
                <a:tc>
                  <a:txBody>
                    <a:bodyPr/>
                    <a:lstStyle/>
                    <a:p>
                      <a:r>
                        <a:rPr lang="en-US" dirty="0"/>
                        <a:t>React.js-for building the UI</a:t>
                      </a:r>
                    </a:p>
                  </a:txBody>
                  <a:tcPr/>
                </a:tc>
                <a:extLst>
                  <a:ext uri="{0D108BD9-81ED-4DB2-BD59-A6C34878D82A}">
                    <a16:rowId xmlns:a16="http://schemas.microsoft.com/office/drawing/2014/main" val="3472345788"/>
                  </a:ext>
                </a:extLst>
              </a:tr>
              <a:tr h="765948">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Tailwind CSS -For responsive and simple styling</a:t>
                      </a:r>
                    </a:p>
                    <a:p>
                      <a:endParaRPr lang="en-US" dirty="0"/>
                    </a:p>
                  </a:txBody>
                  <a:tcPr/>
                </a:tc>
                <a:extLst>
                  <a:ext uri="{0D108BD9-81ED-4DB2-BD59-A6C34878D82A}">
                    <a16:rowId xmlns:a16="http://schemas.microsoft.com/office/drawing/2014/main" val="1833310474"/>
                  </a:ext>
                </a:extLst>
              </a:tr>
              <a:tr h="765948">
                <a:tc>
                  <a:txBody>
                    <a:bodyPr/>
                    <a:lstStyle/>
                    <a:p>
                      <a:r>
                        <a:rPr lang="en-US" sz="1800" dirty="0"/>
                        <a:t>Backend</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Node.js + Express.js - For server-side logic and APIs</a:t>
                      </a:r>
                    </a:p>
                    <a:p>
                      <a:endParaRPr lang="en-US" dirty="0"/>
                    </a:p>
                  </a:txBody>
                  <a:tcPr/>
                </a:tc>
                <a:extLst>
                  <a:ext uri="{0D108BD9-81ED-4DB2-BD59-A6C34878D82A}">
                    <a16:rowId xmlns:a16="http://schemas.microsoft.com/office/drawing/2014/main" val="1837202544"/>
                  </a:ext>
                </a:extLst>
              </a:tr>
              <a:tr h="306379">
                <a:tc>
                  <a:txBody>
                    <a:bodyPr/>
                    <a:lstStyle/>
                    <a:p>
                      <a:r>
                        <a:rPr lang="en-US" dirty="0"/>
                        <a:t>Database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MongoDB (Atlas) - For storing users, NGOs, and donations</a:t>
                      </a:r>
                    </a:p>
                    <a:p>
                      <a:endParaRPr lang="en-US" dirty="0"/>
                    </a:p>
                  </a:txBody>
                  <a:tcPr/>
                </a:tc>
                <a:extLst>
                  <a:ext uri="{0D108BD9-81ED-4DB2-BD59-A6C34878D82A}">
                    <a16:rowId xmlns:a16="http://schemas.microsoft.com/office/drawing/2014/main" val="328297924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5F7AE9B-1EA9-19B4-E34E-553BC1084D6F}"/>
            </a:ext>
          </a:extLst>
        </p:cNvPr>
        <p:cNvGrpSpPr/>
        <p:nvPr/>
      </p:nvGrpSpPr>
      <p:grpSpPr>
        <a:xfrm>
          <a:off x="0" y="0"/>
          <a:ext cx="0" cy="0"/>
          <a:chOff x="0" y="0"/>
          <a:chExt cx="0" cy="0"/>
        </a:xfrm>
      </p:grpSpPr>
      <p:sp>
        <p:nvSpPr>
          <p:cNvPr id="1048620" name="Google Shape;144;p26">
            <a:extLst>
              <a:ext uri="{FF2B5EF4-FFF2-40B4-BE49-F238E27FC236}">
                <a16:creationId xmlns:a16="http://schemas.microsoft.com/office/drawing/2014/main" id="{56B283A3-B370-1439-072E-F6BB3BC15EB5}"/>
              </a:ext>
            </a:extLst>
          </p:cNvPr>
          <p:cNvSpPr txBox="1">
            <a:spLocks noGrp="1"/>
          </p:cNvSpPr>
          <p:nvPr>
            <p:ph type="body" idx="1"/>
          </p:nvPr>
        </p:nvSpPr>
        <p:spPr>
          <a:xfrm>
            <a:off x="182905" y="1415733"/>
            <a:ext cx="9296295" cy="5142400"/>
          </a:xfrm>
          <a:prstGeom prst="rect">
            <a:avLst/>
          </a:prstGeom>
          <a:noFill/>
          <a:ln>
            <a:noFill/>
          </a:ln>
        </p:spPr>
        <p:txBody>
          <a:bodyPr spcFirstLastPara="1" vert="horz" wrap="square" lIns="91433" tIns="45700" rIns="91433" bIns="45700" rtlCol="0" anchor="t" anchorCtr="0">
            <a:normAutofit/>
          </a:bodyPr>
          <a:lstStyle/>
          <a:p>
            <a:pPr marL="0" indent="0">
              <a:buNone/>
            </a:pPr>
            <a:r>
              <a:rPr lang="en-IN" b="1" dirty="0">
                <a:solidFill>
                  <a:srgbClr val="FF0000"/>
                </a:solidFill>
              </a:rPr>
              <a:t>Tools &amp; Technologies </a:t>
            </a:r>
          </a:p>
          <a:p>
            <a:pPr marL="0" indent="0">
              <a:buNone/>
            </a:pPr>
            <a:endParaRPr lang="en-IN" dirty="0">
              <a:solidFill>
                <a:srgbClr val="C00000"/>
              </a:solidFill>
            </a:endParaRPr>
          </a:p>
        </p:txBody>
      </p:sp>
      <p:cxnSp>
        <p:nvCxnSpPr>
          <p:cNvPr id="3145735" name="Google Shape;145;p26">
            <a:extLst>
              <a:ext uri="{FF2B5EF4-FFF2-40B4-BE49-F238E27FC236}">
                <a16:creationId xmlns:a16="http://schemas.microsoft.com/office/drawing/2014/main" id="{0D7A517B-82E1-9EB9-D414-CB314FA7E674}"/>
              </a:ext>
            </a:extLst>
          </p:cNvPr>
          <p:cNvCxnSpPr>
            <a:cxnSpLocks/>
          </p:cNvCxnSpPr>
          <p:nvPr/>
        </p:nvCxnSpPr>
        <p:spPr>
          <a:xfrm>
            <a:off x="0" y="1049844"/>
            <a:ext cx="9479200" cy="0"/>
          </a:xfrm>
          <a:prstGeom prst="straightConnector1">
            <a:avLst/>
          </a:prstGeom>
          <a:noFill/>
          <a:ln w="38100" cap="flat" cmpd="sng">
            <a:solidFill>
              <a:srgbClr val="DFA267"/>
            </a:solidFill>
            <a:prstDash val="solid"/>
            <a:miter lim="800000"/>
            <a:headEnd type="none" w="sm" len="sm"/>
            <a:tailEnd type="none" w="sm" len="sm"/>
          </a:ln>
        </p:spPr>
      </p:cxnSp>
      <p:sp>
        <p:nvSpPr>
          <p:cNvPr id="1048621" name="Google Shape;146;p26">
            <a:extLst>
              <a:ext uri="{FF2B5EF4-FFF2-40B4-BE49-F238E27FC236}">
                <a16:creationId xmlns:a16="http://schemas.microsoft.com/office/drawing/2014/main" id="{426F2842-5ECE-AA1D-DAD1-E625DB957D07}"/>
              </a:ext>
            </a:extLst>
          </p:cNvPr>
          <p:cNvSpPr/>
          <p:nvPr/>
        </p:nvSpPr>
        <p:spPr>
          <a:xfrm>
            <a:off x="182905" y="299867"/>
            <a:ext cx="7497200" cy="492400"/>
          </a:xfrm>
          <a:prstGeom prst="rect">
            <a:avLst/>
          </a:prstGeom>
          <a:noFill/>
          <a:ln>
            <a:noFill/>
          </a:ln>
        </p:spPr>
        <p:txBody>
          <a:bodyPr spcFirstLastPara="1" wrap="square" lIns="91433" tIns="45700" rIns="91433" bIns="45700" anchor="t" anchorCtr="0">
            <a:noAutofit/>
          </a:bodyPr>
          <a:lstStyle/>
          <a:p>
            <a:pPr>
              <a:buClr>
                <a:srgbClr val="000000"/>
              </a:buClr>
              <a:buSzPts val="2300"/>
            </a:pPr>
            <a:r>
              <a:rPr lang="en" sz="3600" b="1" dirty="0">
                <a:solidFill>
                  <a:srgbClr val="2F5496"/>
                </a:solidFill>
                <a:latin typeface="Calibri"/>
                <a:ea typeface="Calibri"/>
                <a:cs typeface="Calibri"/>
                <a:sym typeface="Calibri"/>
              </a:rPr>
              <a:t>Title of the project </a:t>
            </a:r>
            <a:endParaRPr sz="1867" dirty="0">
              <a:solidFill>
                <a:srgbClr val="000000"/>
              </a:solidFill>
              <a:latin typeface="Arial"/>
              <a:ea typeface="Arial"/>
              <a:cs typeface="Arial"/>
              <a:sym typeface="Arial"/>
            </a:endParaRPr>
          </a:p>
        </p:txBody>
      </p:sp>
      <p:pic>
        <p:nvPicPr>
          <p:cNvPr id="2097159" name="Picture 1">
            <a:extLst>
              <a:ext uri="{FF2B5EF4-FFF2-40B4-BE49-F238E27FC236}">
                <a16:creationId xmlns:a16="http://schemas.microsoft.com/office/drawing/2014/main" id="{E4332ECF-25DC-50DA-3FF7-2CE9569E1325}"/>
              </a:ext>
            </a:extLst>
          </p:cNvPr>
          <p:cNvPicPr>
            <a:picLocks noChangeAspect="1"/>
          </p:cNvPicPr>
          <p:nvPr/>
        </p:nvPicPr>
        <p:blipFill>
          <a:blip r:embed="rId3"/>
          <a:stretch>
            <a:fillRect/>
          </a:stretch>
        </p:blipFill>
        <p:spPr>
          <a:xfrm>
            <a:off x="10787743" y="299867"/>
            <a:ext cx="1023356" cy="1681033"/>
          </a:xfrm>
          <a:prstGeom prst="rect">
            <a:avLst/>
          </a:prstGeom>
        </p:spPr>
      </p:pic>
      <p:sp>
        <p:nvSpPr>
          <p:cNvPr id="2" name="TextBox 1">
            <a:extLst>
              <a:ext uri="{FF2B5EF4-FFF2-40B4-BE49-F238E27FC236}">
                <a16:creationId xmlns:a16="http://schemas.microsoft.com/office/drawing/2014/main" id="{B13396CE-FF9C-C74F-80B8-CD750F28238D}"/>
              </a:ext>
            </a:extLst>
          </p:cNvPr>
          <p:cNvSpPr txBox="1"/>
          <p:nvPr/>
        </p:nvSpPr>
        <p:spPr>
          <a:xfrm>
            <a:off x="182906" y="2855495"/>
            <a:ext cx="2977390" cy="3416968"/>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3BE7BC29-39C8-990C-1A52-B41711F88015}"/>
              </a:ext>
            </a:extLst>
          </p:cNvPr>
          <p:cNvSpPr txBox="1"/>
          <p:nvPr/>
        </p:nvSpPr>
        <p:spPr>
          <a:xfrm>
            <a:off x="335306" y="3007895"/>
            <a:ext cx="2977390" cy="3416968"/>
          </a:xfrm>
          <a:prstGeom prst="rect">
            <a:avLst/>
          </a:prstGeom>
          <a:noFill/>
        </p:spPr>
        <p:txBody>
          <a:bodyPr wrap="square" rtlCol="0">
            <a:spAutoFit/>
          </a:bodyPr>
          <a:lstStyle/>
          <a:p>
            <a:endParaRPr lang="en-US" dirty="0"/>
          </a:p>
        </p:txBody>
      </p:sp>
      <p:graphicFrame>
        <p:nvGraphicFramePr>
          <p:cNvPr id="4" name="Table 3">
            <a:extLst>
              <a:ext uri="{FF2B5EF4-FFF2-40B4-BE49-F238E27FC236}">
                <a16:creationId xmlns:a16="http://schemas.microsoft.com/office/drawing/2014/main" id="{596E6E2F-2A66-BFE2-94AB-6617B5C80E22}"/>
              </a:ext>
            </a:extLst>
          </p:cNvPr>
          <p:cNvGraphicFramePr>
            <a:graphicFrameLocks noGrp="1"/>
          </p:cNvGraphicFramePr>
          <p:nvPr>
            <p:extLst>
              <p:ext uri="{D42A27DB-BD31-4B8C-83A1-F6EECF244321}">
                <p14:modId xmlns:p14="http://schemas.microsoft.com/office/powerpoint/2010/main" val="861579402"/>
              </p:ext>
            </p:extLst>
          </p:nvPr>
        </p:nvGraphicFramePr>
        <p:xfrm>
          <a:off x="250334" y="2441388"/>
          <a:ext cx="8128000" cy="2839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011566945"/>
                    </a:ext>
                  </a:extLst>
                </a:gridCol>
                <a:gridCol w="4064000">
                  <a:extLst>
                    <a:ext uri="{9D8B030D-6E8A-4147-A177-3AD203B41FA5}">
                      <a16:colId xmlns:a16="http://schemas.microsoft.com/office/drawing/2014/main" val="2914314569"/>
                    </a:ext>
                  </a:extLst>
                </a:gridCol>
              </a:tblGrid>
              <a:tr h="370840">
                <a:tc>
                  <a:txBody>
                    <a:bodyPr/>
                    <a:lstStyle/>
                    <a:p>
                      <a:r>
                        <a:rPr lang="en-US" dirty="0"/>
                        <a:t>Tools and Technologies</a:t>
                      </a:r>
                    </a:p>
                  </a:txBody>
                  <a:tcPr/>
                </a:tc>
                <a:tc>
                  <a:txBody>
                    <a:bodyPr/>
                    <a:lstStyle/>
                    <a:p>
                      <a:endParaRPr lang="en-US"/>
                    </a:p>
                  </a:txBody>
                  <a:tcPr/>
                </a:tc>
                <a:extLst>
                  <a:ext uri="{0D108BD9-81ED-4DB2-BD59-A6C34878D82A}">
                    <a16:rowId xmlns:a16="http://schemas.microsoft.com/office/drawing/2014/main" val="3113195773"/>
                  </a:ext>
                </a:extLst>
              </a:tr>
              <a:tr h="370840">
                <a:tc>
                  <a:txBody>
                    <a:bodyPr/>
                    <a:lstStyle/>
                    <a:p>
                      <a:r>
                        <a:rPr lang="en-US" dirty="0"/>
                        <a:t>Location </a:t>
                      </a:r>
                    </a:p>
                  </a:txBody>
                  <a:tcPr/>
                </a:tc>
                <a:tc>
                  <a:txBody>
                    <a:bodyPr/>
                    <a:lstStyle/>
                    <a:p>
                      <a:r>
                        <a:rPr lang="en-US" dirty="0"/>
                        <a:t>Google Maps API- To find nearby NGOS and show distance </a:t>
                      </a:r>
                    </a:p>
                  </a:txBody>
                  <a:tcPr/>
                </a:tc>
                <a:extLst>
                  <a:ext uri="{0D108BD9-81ED-4DB2-BD59-A6C34878D82A}">
                    <a16:rowId xmlns:a16="http://schemas.microsoft.com/office/drawing/2014/main" val="2414621389"/>
                  </a:ext>
                </a:extLst>
              </a:tr>
              <a:tr h="370840">
                <a:tc>
                  <a:txBody>
                    <a:bodyPr/>
                    <a:lstStyle/>
                    <a:p>
                      <a:r>
                        <a:rPr lang="en-US" dirty="0"/>
                        <a:t>Authentication </a:t>
                      </a:r>
                    </a:p>
                  </a:txBody>
                  <a:tcPr/>
                </a:tc>
                <a:tc>
                  <a:txBody>
                    <a:bodyPr/>
                    <a:lstStyle/>
                    <a:p>
                      <a:r>
                        <a:rPr lang="en-US" dirty="0"/>
                        <a:t>JWT(JSON Web Tokens)- Secure Login and role based access</a:t>
                      </a:r>
                    </a:p>
                  </a:txBody>
                  <a:tcPr/>
                </a:tc>
                <a:extLst>
                  <a:ext uri="{0D108BD9-81ED-4DB2-BD59-A6C34878D82A}">
                    <a16:rowId xmlns:a16="http://schemas.microsoft.com/office/drawing/2014/main" val="5003818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Development Tools</a:t>
                      </a:r>
                    </a:p>
                    <a:p>
                      <a:endParaRPr lang="en-US" dirty="0"/>
                    </a:p>
                  </a:txBody>
                  <a:tcPr/>
                </a:tc>
                <a:tc>
                  <a:txBody>
                    <a:bodyPr/>
                    <a:lstStyle/>
                    <a:p>
                      <a:pPr marL="0" indent="0">
                        <a:buFont typeface="Arial" panose="020B0604020202020204" pitchFamily="34" charset="0"/>
                        <a:buNone/>
                      </a:pPr>
                      <a:r>
                        <a:rPr lang="en-US" sz="1800" dirty="0"/>
                        <a:t>VS Code - Coding</a:t>
                      </a:r>
                    </a:p>
                    <a:p>
                      <a:pPr marL="0" indent="0">
                        <a:buFont typeface="Arial" panose="020B0604020202020204" pitchFamily="34" charset="0"/>
                        <a:buNone/>
                      </a:pPr>
                      <a:r>
                        <a:rPr lang="en-US" sz="1800" dirty="0"/>
                        <a:t>Git &amp; GitHub - Version control</a:t>
                      </a:r>
                    </a:p>
                    <a:p>
                      <a:pPr marL="0" indent="0">
                        <a:buFont typeface="Arial" panose="020B0604020202020204" pitchFamily="34" charset="0"/>
                        <a:buNone/>
                      </a:pPr>
                      <a:r>
                        <a:rPr lang="en-US" sz="1800" dirty="0"/>
                        <a:t>Postman - API testing</a:t>
                      </a:r>
                    </a:p>
                    <a:p>
                      <a:endParaRPr lang="en-US" dirty="0"/>
                    </a:p>
                  </a:txBody>
                  <a:tcPr/>
                </a:tc>
                <a:extLst>
                  <a:ext uri="{0D108BD9-81ED-4DB2-BD59-A6C34878D82A}">
                    <a16:rowId xmlns:a16="http://schemas.microsoft.com/office/drawing/2014/main" val="3245182708"/>
                  </a:ext>
                </a:extLst>
              </a:tr>
            </a:tbl>
          </a:graphicData>
        </a:graphic>
      </p:graphicFrame>
    </p:spTree>
    <p:extLst>
      <p:ext uri="{BB962C8B-B14F-4D97-AF65-F5344CB8AC3E}">
        <p14:creationId xmlns:p14="http://schemas.microsoft.com/office/powerpoint/2010/main" val="3515920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cxnSp>
        <p:nvCxnSpPr>
          <p:cNvPr id="3145738" name="Google Shape;404;p57"/>
          <p:cNvCxnSpPr>
            <a:cxnSpLocks/>
          </p:cNvCxnSpPr>
          <p:nvPr/>
        </p:nvCxnSpPr>
        <p:spPr>
          <a:xfrm>
            <a:off x="4247920" y="3052871"/>
            <a:ext cx="6583600" cy="0"/>
          </a:xfrm>
          <a:prstGeom prst="straightConnector1">
            <a:avLst/>
          </a:prstGeom>
          <a:noFill/>
          <a:ln w="38100" cap="flat" cmpd="sng">
            <a:solidFill>
              <a:srgbClr val="DFA267"/>
            </a:solidFill>
            <a:prstDash val="solid"/>
            <a:miter lim="800000"/>
            <a:headEnd type="none" w="sm" len="sm"/>
            <a:tailEnd type="none" w="sm" len="sm"/>
          </a:ln>
        </p:spPr>
      </p:cxnSp>
      <p:grpSp>
        <p:nvGrpSpPr>
          <p:cNvPr id="60" name="Google Shape;406;p57"/>
          <p:cNvGrpSpPr/>
          <p:nvPr/>
        </p:nvGrpSpPr>
        <p:grpSpPr>
          <a:xfrm>
            <a:off x="313939" y="349467"/>
            <a:ext cx="11518312" cy="6218269"/>
            <a:chOff x="313939" y="349466"/>
            <a:chExt cx="11518312" cy="6218269"/>
          </a:xfrm>
        </p:grpSpPr>
        <p:sp>
          <p:nvSpPr>
            <p:cNvPr id="1048633" name="Google Shape;407;p57"/>
            <p:cNvSpPr/>
            <p:nvPr/>
          </p:nvSpPr>
          <p:spPr>
            <a:xfrm>
              <a:off x="11786532" y="360726"/>
              <a:ext cx="45600" cy="1066800"/>
            </a:xfrm>
            <a:prstGeom prst="rect">
              <a:avLst/>
            </a:prstGeom>
            <a:solidFill>
              <a:srgbClr val="F4B081"/>
            </a:solidFill>
            <a:ln>
              <a:noFill/>
            </a:ln>
          </p:spPr>
          <p:txBody>
            <a:bodyPr spcFirstLastPara="1" wrap="square" lIns="91433" tIns="45700" rIns="91433" bIns="45700" anchor="ctr" anchorCtr="0">
              <a:noAutofit/>
            </a:bodyPr>
            <a:lstStyle/>
            <a:p>
              <a:pPr algn="ctr">
                <a:buClr>
                  <a:srgbClr val="000000"/>
                </a:buClr>
                <a:buSzPts val="1400"/>
              </a:pPr>
              <a:endParaRPr sz="1867">
                <a:solidFill>
                  <a:schemeClr val="lt1"/>
                </a:solidFill>
                <a:latin typeface="Calibri"/>
                <a:ea typeface="Calibri"/>
                <a:cs typeface="Calibri"/>
                <a:sym typeface="Calibri"/>
              </a:endParaRPr>
            </a:p>
          </p:txBody>
        </p:sp>
        <p:sp>
          <p:nvSpPr>
            <p:cNvPr id="1048634" name="Google Shape;408;p57"/>
            <p:cNvSpPr/>
            <p:nvPr/>
          </p:nvSpPr>
          <p:spPr>
            <a:xfrm rot="5400000">
              <a:off x="11276051" y="-161134"/>
              <a:ext cx="45600" cy="1066800"/>
            </a:xfrm>
            <a:prstGeom prst="rect">
              <a:avLst/>
            </a:prstGeom>
            <a:solidFill>
              <a:srgbClr val="F4B081"/>
            </a:solidFill>
            <a:ln>
              <a:noFill/>
            </a:ln>
          </p:spPr>
          <p:txBody>
            <a:bodyPr spcFirstLastPara="1" wrap="square" lIns="91433" tIns="45700" rIns="91433" bIns="45700" anchor="ctr" anchorCtr="0">
              <a:noAutofit/>
            </a:bodyPr>
            <a:lstStyle/>
            <a:p>
              <a:pPr algn="ctr">
                <a:buClr>
                  <a:srgbClr val="000000"/>
                </a:buClr>
                <a:buSzPts val="1400"/>
              </a:pPr>
              <a:endParaRPr sz="1867">
                <a:solidFill>
                  <a:schemeClr val="lt1"/>
                </a:solidFill>
                <a:latin typeface="Calibri"/>
                <a:ea typeface="Calibri"/>
                <a:cs typeface="Calibri"/>
                <a:sym typeface="Calibri"/>
              </a:endParaRPr>
            </a:p>
          </p:txBody>
        </p:sp>
        <p:sp>
          <p:nvSpPr>
            <p:cNvPr id="1048635" name="Google Shape;409;p57"/>
            <p:cNvSpPr/>
            <p:nvPr/>
          </p:nvSpPr>
          <p:spPr>
            <a:xfrm rot="5400000">
              <a:off x="824539" y="6011535"/>
              <a:ext cx="45600" cy="1066800"/>
            </a:xfrm>
            <a:prstGeom prst="rect">
              <a:avLst/>
            </a:prstGeom>
            <a:solidFill>
              <a:srgbClr val="F4B081"/>
            </a:solidFill>
            <a:ln>
              <a:noFill/>
            </a:ln>
          </p:spPr>
          <p:txBody>
            <a:bodyPr spcFirstLastPara="1" wrap="square" lIns="91433" tIns="45700" rIns="91433" bIns="45700" anchor="ctr" anchorCtr="0">
              <a:noAutofit/>
            </a:bodyPr>
            <a:lstStyle/>
            <a:p>
              <a:pPr algn="ctr">
                <a:buClr>
                  <a:srgbClr val="000000"/>
                </a:buClr>
                <a:buSzPts val="1400"/>
              </a:pPr>
              <a:endParaRPr sz="1867">
                <a:solidFill>
                  <a:schemeClr val="lt1"/>
                </a:solidFill>
                <a:latin typeface="Calibri"/>
                <a:ea typeface="Calibri"/>
                <a:cs typeface="Calibri"/>
                <a:sym typeface="Calibri"/>
              </a:endParaRPr>
            </a:p>
          </p:txBody>
        </p:sp>
        <p:sp>
          <p:nvSpPr>
            <p:cNvPr id="1048636" name="Google Shape;410;p57"/>
            <p:cNvSpPr/>
            <p:nvPr/>
          </p:nvSpPr>
          <p:spPr>
            <a:xfrm rot="10800000">
              <a:off x="313963" y="5489794"/>
              <a:ext cx="45600" cy="1066800"/>
            </a:xfrm>
            <a:prstGeom prst="rect">
              <a:avLst/>
            </a:prstGeom>
            <a:solidFill>
              <a:srgbClr val="F4B081"/>
            </a:solidFill>
            <a:ln>
              <a:noFill/>
            </a:ln>
          </p:spPr>
          <p:txBody>
            <a:bodyPr spcFirstLastPara="1" wrap="square" lIns="91433" tIns="45700" rIns="91433" bIns="45700" anchor="ctr" anchorCtr="0">
              <a:noAutofit/>
            </a:bodyPr>
            <a:lstStyle/>
            <a:p>
              <a:pPr algn="ctr">
                <a:buClr>
                  <a:srgbClr val="000000"/>
                </a:buClr>
                <a:buSzPts val="1400"/>
              </a:pPr>
              <a:endParaRPr sz="1867">
                <a:solidFill>
                  <a:schemeClr val="lt1"/>
                </a:solidFill>
                <a:latin typeface="Calibri"/>
                <a:ea typeface="Calibri"/>
                <a:cs typeface="Calibri"/>
                <a:sym typeface="Calibri"/>
              </a:endParaRPr>
            </a:p>
          </p:txBody>
        </p:sp>
      </p:grpSp>
      <p:sp>
        <p:nvSpPr>
          <p:cNvPr id="1048637" name="Google Shape;411;p57"/>
          <p:cNvSpPr/>
          <p:nvPr/>
        </p:nvSpPr>
        <p:spPr>
          <a:xfrm>
            <a:off x="4181928" y="2075011"/>
            <a:ext cx="4251200" cy="646400"/>
          </a:xfrm>
          <a:prstGeom prst="rect">
            <a:avLst/>
          </a:prstGeom>
          <a:noFill/>
          <a:ln>
            <a:noFill/>
          </a:ln>
        </p:spPr>
        <p:txBody>
          <a:bodyPr spcFirstLastPara="1" wrap="square" lIns="91433" tIns="45700" rIns="91433" bIns="45700" anchor="t" anchorCtr="0">
            <a:noAutofit/>
          </a:bodyPr>
          <a:lstStyle/>
          <a:p>
            <a:pPr>
              <a:buClr>
                <a:srgbClr val="000000"/>
              </a:buClr>
              <a:buSzPts val="2700"/>
            </a:pPr>
            <a:r>
              <a:rPr lang="en" sz="5600" b="1">
                <a:solidFill>
                  <a:srgbClr val="B45F06"/>
                </a:solidFill>
                <a:latin typeface="Calibri"/>
                <a:ea typeface="Calibri"/>
                <a:cs typeface="Calibri"/>
                <a:sym typeface="Calibri"/>
              </a:rPr>
              <a:t>THANK YOU!</a:t>
            </a:r>
            <a:endParaRPr sz="3467">
              <a:solidFill>
                <a:srgbClr val="B45F06"/>
              </a:solidFill>
              <a:latin typeface="Arial"/>
              <a:ea typeface="Arial"/>
              <a:cs typeface="Arial"/>
              <a:sym typeface="Arial"/>
            </a:endParaRPr>
          </a:p>
        </p:txBody>
      </p:sp>
      <p:pic>
        <p:nvPicPr>
          <p:cNvPr id="2097162" name="Google Shape;412;p57"/>
          <p:cNvPicPr preferRelativeResize="0">
            <a:picLocks/>
          </p:cNvPicPr>
          <p:nvPr/>
        </p:nvPicPr>
        <p:blipFill rotWithShape="1">
          <a:blip r:embed="rId3">
            <a:alphaModFix/>
          </a:blip>
          <a:srcRect/>
          <a:stretch>
            <a:fillRect/>
          </a:stretch>
        </p:blipFill>
        <p:spPr>
          <a:xfrm>
            <a:off x="952863" y="1176320"/>
            <a:ext cx="2286000" cy="3753101"/>
          </a:xfrm>
          <a:prstGeom prst="rect">
            <a:avLst/>
          </a:prstGeom>
          <a:noFill/>
          <a:ln>
            <a:noFill/>
          </a:ln>
        </p:spPr>
      </p:pic>
      <p:sp>
        <p:nvSpPr>
          <p:cNvPr id="1048638" name="Google Shape;413;p57"/>
          <p:cNvSpPr/>
          <p:nvPr/>
        </p:nvSpPr>
        <p:spPr>
          <a:xfrm>
            <a:off x="4181928" y="2919379"/>
            <a:ext cx="6715600" cy="523200"/>
          </a:xfrm>
          <a:prstGeom prst="rect">
            <a:avLst/>
          </a:prstGeom>
          <a:noFill/>
          <a:ln>
            <a:noFill/>
          </a:ln>
        </p:spPr>
        <p:txBody>
          <a:bodyPr spcFirstLastPara="1" wrap="square" lIns="91433" tIns="45700" rIns="91433" bIns="45700" anchor="t" anchorCtr="0">
            <a:noAutofit/>
          </a:bodyPr>
          <a:lstStyle/>
          <a:p>
            <a:pPr>
              <a:buClr>
                <a:schemeClr val="dk1"/>
              </a:buClr>
              <a:buSzPts val="1500"/>
            </a:pPr>
            <a:endParaRPr sz="2000" b="1">
              <a:solidFill>
                <a:schemeClr val="accen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626</Words>
  <Application>Microsoft Office PowerPoint</Application>
  <PresentationFormat>Widescreen</PresentationFormat>
  <Paragraphs>77</Paragraphs>
  <Slides>11</Slides>
  <Notes>11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16" baseType="lpstr">
      <vt:lpstr>Arial</vt:lpstr>
      <vt:lpstr>Calibri</vt:lpstr>
      <vt:lpstr>Calibri Light</vt:lpstr>
      <vt:lpstr>Office Theme</vt:lpstr>
      <vt:lpstr>Microsoft Excel 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SAMYUKTA D KUMTA DOCA</dc:creator>
  <cp:lastModifiedBy>Kartikey Sharma</cp:lastModifiedBy>
  <cp:revision>1</cp:revision>
  <dcterms:created xsi:type="dcterms:W3CDTF">2025-09-20T21:32:06Z</dcterms:created>
  <dcterms:modified xsi:type="dcterms:W3CDTF">2025-09-26T12:16:01Z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9088bd094d5e4cef9e703c30958c56dc</vt:lpwstr>
  </property>
</Properties>
</file>